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Loubag" charset="1" panose="02020A03060303060403"/>
      <p:regular r:id="rId20"/>
    </p:embeddedFont>
    <p:embeddedFont>
      <p:font typeface="Poppins Bold" charset="1" panose="00000800000000000000"/>
      <p:regular r:id="rId21"/>
    </p:embeddedFont>
    <p:embeddedFont>
      <p:font typeface="Playwrite US Trad" charset="1" panose="00000000000000000000"/>
      <p:regular r:id="rId22"/>
    </p:embeddedFont>
    <p:embeddedFont>
      <p:font typeface="TT Fors" charset="1" panose="020B0003030001020000"/>
      <p:regular r:id="rId23"/>
    </p:embeddedFont>
    <p:embeddedFont>
      <p:font typeface="Loubag Bold" charset="1" panose="02020A03060303060403"/>
      <p:regular r:id="rId24"/>
    </p:embeddedFont>
    <p:embeddedFont>
      <p:font typeface="TT Fors Bold" charset="1" panose="020B000303000102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4.jpeg" Type="http://schemas.openxmlformats.org/officeDocument/2006/relationships/image"/><Relationship Id="rId9" Target="../media/image2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6.jpeg" Type="http://schemas.openxmlformats.org/officeDocument/2006/relationships/image"/><Relationship Id="rId9" Target="../media/image2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8.jpeg" Type="http://schemas.openxmlformats.org/officeDocument/2006/relationships/image"/><Relationship Id="rId9" Target="../media/image2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0.jpeg" Type="http://schemas.openxmlformats.org/officeDocument/2006/relationships/image"/><Relationship Id="rId9" Target="../media/image3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9053" y="1642753"/>
            <a:ext cx="14669894" cy="7121567"/>
          </a:xfrm>
          <a:custGeom>
            <a:avLst/>
            <a:gdLst/>
            <a:ahLst/>
            <a:cxnLst/>
            <a:rect r="r" b="b" t="t" l="l"/>
            <a:pathLst>
              <a:path h="7121567" w="14669894">
                <a:moveTo>
                  <a:pt x="0" y="0"/>
                </a:moveTo>
                <a:lnTo>
                  <a:pt x="14669894" y="0"/>
                </a:lnTo>
                <a:lnTo>
                  <a:pt x="14669894" y="7121567"/>
                </a:lnTo>
                <a:lnTo>
                  <a:pt x="0" y="71215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71883" y="3748880"/>
            <a:ext cx="8138362" cy="200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17"/>
              </a:lnSpc>
            </a:pPr>
            <a:r>
              <a:rPr lang="en-US" sz="11726">
                <a:solidFill>
                  <a:srgbClr val="6B6899"/>
                </a:solidFill>
                <a:latin typeface="Loubag"/>
                <a:ea typeface="Loubag"/>
                <a:cs typeface="Loubag"/>
                <a:sym typeface="Loubag"/>
              </a:rPr>
              <a:t>Kalkulator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889966">
            <a:off x="975267" y="6001665"/>
            <a:ext cx="3854282" cy="2999332"/>
          </a:xfrm>
          <a:custGeom>
            <a:avLst/>
            <a:gdLst/>
            <a:ahLst/>
            <a:cxnLst/>
            <a:rect r="r" b="b" t="t" l="l"/>
            <a:pathLst>
              <a:path h="2999332" w="3854282">
                <a:moveTo>
                  <a:pt x="0" y="0"/>
                </a:moveTo>
                <a:lnTo>
                  <a:pt x="3854282" y="0"/>
                </a:lnTo>
                <a:lnTo>
                  <a:pt x="3854282" y="2999332"/>
                </a:lnTo>
                <a:lnTo>
                  <a:pt x="0" y="2999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89387" y="2152884"/>
            <a:ext cx="2189561" cy="2038282"/>
          </a:xfrm>
          <a:custGeom>
            <a:avLst/>
            <a:gdLst/>
            <a:ahLst/>
            <a:cxnLst/>
            <a:rect r="r" b="b" t="t" l="l"/>
            <a:pathLst>
              <a:path h="2038282" w="2189561">
                <a:moveTo>
                  <a:pt x="0" y="0"/>
                </a:moveTo>
                <a:lnTo>
                  <a:pt x="2189560" y="0"/>
                </a:lnTo>
                <a:lnTo>
                  <a:pt x="2189560" y="2038282"/>
                </a:lnTo>
                <a:lnTo>
                  <a:pt x="0" y="20382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8824" y="2739647"/>
            <a:ext cx="1203584" cy="1642608"/>
          </a:xfrm>
          <a:custGeom>
            <a:avLst/>
            <a:gdLst/>
            <a:ahLst/>
            <a:cxnLst/>
            <a:rect r="r" b="b" t="t" l="l"/>
            <a:pathLst>
              <a:path h="1642608" w="1203584">
                <a:moveTo>
                  <a:pt x="0" y="0"/>
                </a:moveTo>
                <a:lnTo>
                  <a:pt x="1203584" y="0"/>
                </a:lnTo>
                <a:lnTo>
                  <a:pt x="1203584" y="1642608"/>
                </a:lnTo>
                <a:lnTo>
                  <a:pt x="0" y="1642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13734" y="2904401"/>
            <a:ext cx="8460531" cy="45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3"/>
              </a:lnSpc>
            </a:pPr>
            <a:r>
              <a:rPr lang="en-US" b="true" sz="2552" spc="306">
                <a:solidFill>
                  <a:srgbClr val="EA9BB1"/>
                </a:solidFill>
                <a:latin typeface="Poppins Bold"/>
                <a:ea typeface="Poppins Bold"/>
                <a:cs typeface="Poppins Bold"/>
                <a:sym typeface="Poppins Bold"/>
              </a:rPr>
              <a:t>TEKNOLOGI PEMROGRAMAN MOBILE IF-E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275364" y="6036696"/>
            <a:ext cx="1203584" cy="1642608"/>
          </a:xfrm>
          <a:custGeom>
            <a:avLst/>
            <a:gdLst/>
            <a:ahLst/>
            <a:cxnLst/>
            <a:rect r="r" b="b" t="t" l="l"/>
            <a:pathLst>
              <a:path h="1642608" w="1203584">
                <a:moveTo>
                  <a:pt x="0" y="0"/>
                </a:moveTo>
                <a:lnTo>
                  <a:pt x="1203583" y="0"/>
                </a:lnTo>
                <a:lnTo>
                  <a:pt x="1203583" y="1642608"/>
                </a:lnTo>
                <a:lnTo>
                  <a:pt x="0" y="1642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890415">
            <a:off x="9528646" y="4416460"/>
            <a:ext cx="5312992" cy="235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8"/>
              </a:lnSpc>
            </a:pPr>
            <a:r>
              <a:rPr lang="en-US" sz="13720" spc="-850">
                <a:solidFill>
                  <a:srgbClr val="EA9BB1"/>
                </a:solidFill>
                <a:latin typeface="Playwrite US Trad"/>
                <a:ea typeface="Playwrite US Trad"/>
                <a:cs typeface="Playwrite US Trad"/>
                <a:sym typeface="Playwrite US Trad"/>
              </a:rPr>
              <a:t>nomin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9727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0180" y="3708018"/>
            <a:ext cx="6309842" cy="3992729"/>
            <a:chOff x="0" y="0"/>
            <a:chExt cx="6021070" cy="381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2234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022340">
                  <a:moveTo>
                    <a:pt x="3011170" y="0"/>
                  </a:moveTo>
                  <a:cubicBezTo>
                    <a:pt x="1348147" y="0"/>
                    <a:pt x="0" y="852898"/>
                    <a:pt x="0" y="1905000"/>
                  </a:cubicBezTo>
                  <a:cubicBezTo>
                    <a:pt x="0" y="2957102"/>
                    <a:pt x="1348147" y="3810000"/>
                    <a:pt x="3011170" y="3810000"/>
                  </a:cubicBezTo>
                  <a:cubicBezTo>
                    <a:pt x="4674193" y="3810000"/>
                    <a:pt x="6022340" y="2957102"/>
                    <a:pt x="6022340" y="1905000"/>
                  </a:cubicBezTo>
                  <a:cubicBezTo>
                    <a:pt x="6022340" y="852898"/>
                    <a:pt x="4674193" y="0"/>
                    <a:pt x="301117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905" r="0" b="-3905"/>
              </a:stretch>
            </a:blipFill>
            <a:ln w="123825" cap="sq">
              <a:solidFill>
                <a:srgbClr val="6B6899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795272" y="2540084"/>
            <a:ext cx="2001289" cy="2057400"/>
          </a:xfrm>
          <a:custGeom>
            <a:avLst/>
            <a:gdLst/>
            <a:ahLst/>
            <a:cxnLst/>
            <a:rect r="r" b="b" t="t" l="l"/>
            <a:pathLst>
              <a:path h="2057400" w="2001289">
                <a:moveTo>
                  <a:pt x="0" y="0"/>
                </a:moveTo>
                <a:lnTo>
                  <a:pt x="2001289" y="0"/>
                </a:lnTo>
                <a:lnTo>
                  <a:pt x="200128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0180" y="6828273"/>
            <a:ext cx="2180289" cy="2057400"/>
          </a:xfrm>
          <a:custGeom>
            <a:avLst/>
            <a:gdLst/>
            <a:ahLst/>
            <a:cxnLst/>
            <a:rect r="r" b="b" t="t" l="l"/>
            <a:pathLst>
              <a:path h="2057400" w="2180289">
                <a:moveTo>
                  <a:pt x="0" y="0"/>
                </a:moveTo>
                <a:lnTo>
                  <a:pt x="2180289" y="0"/>
                </a:lnTo>
                <a:lnTo>
                  <a:pt x="218028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390827" y="1494220"/>
            <a:ext cx="9514313" cy="7056524"/>
            <a:chOff x="0" y="0"/>
            <a:chExt cx="2505827" cy="18585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5827" cy="1858508"/>
            </a:xfrm>
            <a:custGeom>
              <a:avLst/>
              <a:gdLst/>
              <a:ahLst/>
              <a:cxnLst/>
              <a:rect r="r" b="b" t="t" l="l"/>
              <a:pathLst>
                <a:path h="1858508" w="2505827">
                  <a:moveTo>
                    <a:pt x="41499" y="0"/>
                  </a:moveTo>
                  <a:lnTo>
                    <a:pt x="2464328" y="0"/>
                  </a:lnTo>
                  <a:cubicBezTo>
                    <a:pt x="2487247" y="0"/>
                    <a:pt x="2505827" y="18580"/>
                    <a:pt x="2505827" y="41499"/>
                  </a:cubicBezTo>
                  <a:lnTo>
                    <a:pt x="2505827" y="1817009"/>
                  </a:lnTo>
                  <a:cubicBezTo>
                    <a:pt x="2505827" y="1839929"/>
                    <a:pt x="2487247" y="1858508"/>
                    <a:pt x="2464328" y="1858508"/>
                  </a:cubicBezTo>
                  <a:lnTo>
                    <a:pt x="41499" y="1858508"/>
                  </a:lnTo>
                  <a:cubicBezTo>
                    <a:pt x="18580" y="1858508"/>
                    <a:pt x="0" y="1839929"/>
                    <a:pt x="0" y="1817009"/>
                  </a:cubicBezTo>
                  <a:lnTo>
                    <a:pt x="0" y="41499"/>
                  </a:lnTo>
                  <a:cubicBezTo>
                    <a:pt x="0" y="18580"/>
                    <a:pt x="18580" y="0"/>
                    <a:pt x="41499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2505827" cy="182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0" y="1677153"/>
            <a:ext cx="7431038" cy="307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</a:pPr>
            <a:r>
              <a:rPr lang="en-US" sz="8799" i="true">
                <a:solidFill>
                  <a:srgbClr val="C05A7D"/>
                </a:solidFill>
                <a:latin typeface="Loubag"/>
                <a:ea typeface="Loubag"/>
                <a:cs typeface="Loubag"/>
                <a:sym typeface="Loubag"/>
              </a:rPr>
              <a:t>Anggota Kelompok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14809" y="5229687"/>
            <a:ext cx="7944491" cy="25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511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Melania Intan Sagita (123230005)</a:t>
            </a:r>
          </a:p>
          <a:p>
            <a:pPr algn="l" marL="690876" indent="-345438" lvl="1">
              <a:lnSpc>
                <a:spcPts val="511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Fadilah Nur Sabiyyah (123230006)</a:t>
            </a:r>
          </a:p>
          <a:p>
            <a:pPr algn="l" marL="690876" indent="-345438" lvl="1">
              <a:lnSpc>
                <a:spcPts val="511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Miftah Sari Nurjanah (123230022)</a:t>
            </a:r>
          </a:p>
          <a:p>
            <a:pPr algn="l" marL="690876" indent="-345438" lvl="1">
              <a:lnSpc>
                <a:spcPts val="511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Salsabilla Rizky Setyabudi (123230210)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1862" y="3133274"/>
            <a:ext cx="17436326" cy="6744482"/>
            <a:chOff x="0" y="0"/>
            <a:chExt cx="4592283" cy="17763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92283" cy="1776325"/>
            </a:xfrm>
            <a:custGeom>
              <a:avLst/>
              <a:gdLst/>
              <a:ahLst/>
              <a:cxnLst/>
              <a:rect r="r" b="b" t="t" l="l"/>
              <a:pathLst>
                <a:path h="1776325" w="4592283">
                  <a:moveTo>
                    <a:pt x="22645" y="0"/>
                  </a:moveTo>
                  <a:lnTo>
                    <a:pt x="4569639" y="0"/>
                  </a:lnTo>
                  <a:cubicBezTo>
                    <a:pt x="4575644" y="0"/>
                    <a:pt x="4581404" y="2386"/>
                    <a:pt x="4585651" y="6632"/>
                  </a:cubicBezTo>
                  <a:cubicBezTo>
                    <a:pt x="4589897" y="10879"/>
                    <a:pt x="4592283" y="16639"/>
                    <a:pt x="4592283" y="22645"/>
                  </a:cubicBezTo>
                  <a:lnTo>
                    <a:pt x="4592283" y="1753680"/>
                  </a:lnTo>
                  <a:cubicBezTo>
                    <a:pt x="4592283" y="1759686"/>
                    <a:pt x="4589897" y="1765445"/>
                    <a:pt x="4585651" y="1769692"/>
                  </a:cubicBezTo>
                  <a:cubicBezTo>
                    <a:pt x="4581404" y="1773939"/>
                    <a:pt x="4575644" y="1776325"/>
                    <a:pt x="4569639" y="1776325"/>
                  </a:cubicBezTo>
                  <a:lnTo>
                    <a:pt x="22645" y="1776325"/>
                  </a:lnTo>
                  <a:cubicBezTo>
                    <a:pt x="16639" y="1776325"/>
                    <a:pt x="10879" y="1773939"/>
                    <a:pt x="6632" y="1769692"/>
                  </a:cubicBezTo>
                  <a:cubicBezTo>
                    <a:pt x="2386" y="1765445"/>
                    <a:pt x="0" y="1759686"/>
                    <a:pt x="0" y="1753680"/>
                  </a:cubicBezTo>
                  <a:lnTo>
                    <a:pt x="0" y="22645"/>
                  </a:lnTo>
                  <a:cubicBezTo>
                    <a:pt x="0" y="16639"/>
                    <a:pt x="2386" y="10879"/>
                    <a:pt x="6632" y="6632"/>
                  </a:cubicBezTo>
                  <a:cubicBezTo>
                    <a:pt x="10879" y="2386"/>
                    <a:pt x="16639" y="0"/>
                    <a:pt x="22645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592283" cy="1738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50768" y="1193672"/>
            <a:ext cx="2919865" cy="1125475"/>
          </a:xfrm>
          <a:custGeom>
            <a:avLst/>
            <a:gdLst/>
            <a:ahLst/>
            <a:cxnLst/>
            <a:rect r="r" b="b" t="t" l="l"/>
            <a:pathLst>
              <a:path h="1125475" w="2919865">
                <a:moveTo>
                  <a:pt x="0" y="0"/>
                </a:moveTo>
                <a:lnTo>
                  <a:pt x="2919865" y="0"/>
                </a:lnTo>
                <a:lnTo>
                  <a:pt x="2919865" y="1125476"/>
                </a:lnTo>
                <a:lnTo>
                  <a:pt x="0" y="112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64277" y="1028700"/>
            <a:ext cx="1981283" cy="1945260"/>
          </a:xfrm>
          <a:custGeom>
            <a:avLst/>
            <a:gdLst/>
            <a:ahLst/>
            <a:cxnLst/>
            <a:rect r="r" b="b" t="t" l="l"/>
            <a:pathLst>
              <a:path h="1945260" w="1981283">
                <a:moveTo>
                  <a:pt x="0" y="0"/>
                </a:moveTo>
                <a:lnTo>
                  <a:pt x="1981282" y="0"/>
                </a:lnTo>
                <a:lnTo>
                  <a:pt x="1981282" y="1945260"/>
                </a:lnTo>
                <a:lnTo>
                  <a:pt x="0" y="1945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292683">
            <a:off x="16152659" y="8214034"/>
            <a:ext cx="2213281" cy="2088533"/>
          </a:xfrm>
          <a:custGeom>
            <a:avLst/>
            <a:gdLst/>
            <a:ahLst/>
            <a:cxnLst/>
            <a:rect r="r" b="b" t="t" l="l"/>
            <a:pathLst>
              <a:path h="2088533" w="2213281">
                <a:moveTo>
                  <a:pt x="0" y="0"/>
                </a:moveTo>
                <a:lnTo>
                  <a:pt x="2213282" y="0"/>
                </a:lnTo>
                <a:lnTo>
                  <a:pt x="2213282" y="2088532"/>
                </a:lnTo>
                <a:lnTo>
                  <a:pt x="0" y="20885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10700" y="1114425"/>
            <a:ext cx="13698501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b="true" sz="9600" i="true">
                <a:solidFill>
                  <a:srgbClr val="280F91"/>
                </a:solidFill>
                <a:latin typeface="Loubag Bold"/>
                <a:ea typeface="Loubag Bold"/>
                <a:cs typeface="Loubag Bold"/>
                <a:sym typeface="Loubag Bold"/>
              </a:rPr>
              <a:t>Pendahuluan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1862" y="3471824"/>
            <a:ext cx="17185173" cy="535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5184" indent="-322592" lvl="1">
              <a:lnSpc>
                <a:spcPts val="4781"/>
              </a:lnSpc>
              <a:buFont typeface="Arial"/>
              <a:buChar char="•"/>
            </a:pPr>
            <a:r>
              <a:rPr lang="en-US" b="true" sz="298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</a:t>
            </a:r>
            <a:r>
              <a:rPr lang="en-US" b="true" sz="298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efinisi</a:t>
            </a:r>
            <a:r>
              <a:rPr lang="en-US" sz="298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Aplikasi utilitas all-in-one yang menggabungkan fungsi hitung matematika, logika bilangan, dan alat produktivitas dalam satu platform mobile.</a:t>
            </a:r>
          </a:p>
          <a:p>
            <a:pPr algn="just" marL="645184" indent="-322592" lvl="1">
              <a:lnSpc>
                <a:spcPts val="4781"/>
              </a:lnSpc>
              <a:buFont typeface="Arial"/>
              <a:buChar char="•"/>
            </a:pPr>
            <a:r>
              <a:rPr lang="en-US" b="true" sz="298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Tujuan Utama</a:t>
            </a:r>
            <a:r>
              <a:rPr lang="en-US" sz="298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Memudahkan pengguna menyelesaikan berbagai persoalan numerik dan pengukuran waktu melalui antarmuka yang intuitif dan estetik.</a:t>
            </a:r>
          </a:p>
          <a:p>
            <a:pPr algn="just" marL="645184" indent="-322592" lvl="1">
              <a:lnSpc>
                <a:spcPts val="4781"/>
              </a:lnSpc>
              <a:buFont typeface="Arial"/>
              <a:buChar char="•"/>
            </a:pPr>
            <a:r>
              <a:rPr lang="en-US" b="true" sz="298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Cakupan Fitur</a:t>
            </a:r>
            <a:r>
              <a:rPr lang="en-US" sz="298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</a:t>
            </a:r>
          </a:p>
          <a:p>
            <a:pPr algn="just" marL="645184" indent="-322592" lvl="1">
              <a:lnSpc>
                <a:spcPts val="478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Aritmatika Dasar: Perhitungan standar harian.</a:t>
            </a:r>
          </a:p>
          <a:p>
            <a:pPr algn="just" marL="645184" indent="-322592" lvl="1">
              <a:lnSpc>
                <a:spcPts val="478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Logika &amp; Geometri: Cek jenis bilangan (ganjil/genap/prima) dan hitung volume piramida.</a:t>
            </a:r>
          </a:p>
          <a:p>
            <a:pPr algn="just" marL="645184" indent="-322592" lvl="1">
              <a:lnSpc>
                <a:spcPts val="4781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Produktivitas: Akumulasi total angka secara cepat dan fitur stopwatch dengan sistem lap.</a:t>
            </a:r>
          </a:p>
          <a:p>
            <a:pPr algn="just" marL="0" indent="0" lvl="0">
              <a:lnSpc>
                <a:spcPts val="478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29321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702674"/>
            <a:chOff x="0" y="0"/>
            <a:chExt cx="4274726" cy="22920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292062"/>
            </a:xfrm>
            <a:custGeom>
              <a:avLst/>
              <a:gdLst/>
              <a:ahLst/>
              <a:cxnLst/>
              <a:rect r="r" b="b" t="t" l="l"/>
              <a:pathLst>
                <a:path h="2292062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67736"/>
                  </a:lnTo>
                  <a:cubicBezTo>
                    <a:pt x="4274726" y="2274188"/>
                    <a:pt x="4272163" y="2280375"/>
                    <a:pt x="4267601" y="2284937"/>
                  </a:cubicBezTo>
                  <a:cubicBezTo>
                    <a:pt x="4263039" y="2289499"/>
                    <a:pt x="4256851" y="2292062"/>
                    <a:pt x="4250399" y="2292062"/>
                  </a:cubicBezTo>
                  <a:lnTo>
                    <a:pt x="24327" y="2292062"/>
                  </a:lnTo>
                  <a:cubicBezTo>
                    <a:pt x="10891" y="2292062"/>
                    <a:pt x="0" y="2281171"/>
                    <a:pt x="0" y="226773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4274726" cy="2253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72689" y="2952281"/>
            <a:ext cx="1068720" cy="1008483"/>
          </a:xfrm>
          <a:custGeom>
            <a:avLst/>
            <a:gdLst/>
            <a:ahLst/>
            <a:cxnLst/>
            <a:rect r="r" b="b" t="t" l="l"/>
            <a:pathLst>
              <a:path h="1008483" w="1068720">
                <a:moveTo>
                  <a:pt x="0" y="0"/>
                </a:moveTo>
                <a:lnTo>
                  <a:pt x="1068720" y="0"/>
                </a:lnTo>
                <a:lnTo>
                  <a:pt x="1068720" y="1008483"/>
                </a:lnTo>
                <a:lnTo>
                  <a:pt x="0" y="100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80210" y="1419860"/>
            <a:ext cx="15665853" cy="12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0"/>
              </a:lnSpc>
            </a:pPr>
            <a:r>
              <a:rPr lang="en-US" b="true" sz="8800" i="true">
                <a:solidFill>
                  <a:srgbClr val="C05A7D"/>
                </a:solidFill>
                <a:latin typeface="Loubag Bold"/>
                <a:ea typeface="Loubag Bold"/>
                <a:cs typeface="Loubag Bold"/>
                <a:sym typeface="Loubag Bold"/>
              </a:rPr>
              <a:t>Fit</a:t>
            </a:r>
            <a:r>
              <a:rPr lang="en-US" b="true" sz="8800" i="true">
                <a:solidFill>
                  <a:srgbClr val="C05A7D"/>
                </a:solidFill>
                <a:latin typeface="Loubag Bold"/>
                <a:ea typeface="Loubag Bold"/>
                <a:cs typeface="Loubag Bold"/>
                <a:sym typeface="Loubag Bold"/>
              </a:rPr>
              <a:t>ur - Fitur didalamnya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50322" y="3097112"/>
            <a:ext cx="4228373" cy="59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59"/>
              </a:lnSpc>
            </a:pPr>
            <a:r>
              <a:rPr lang="en-US" b="true" sz="30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SISTEM LOGIN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98006" y="3097112"/>
            <a:ext cx="5259872" cy="59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59"/>
              </a:lnSpc>
            </a:pPr>
            <a:r>
              <a:rPr lang="en-US" b="true" sz="30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CEK BILANGAN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8006" y="4785041"/>
            <a:ext cx="5417305" cy="59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59"/>
              </a:lnSpc>
            </a:pPr>
            <a:r>
              <a:rPr lang="en-US" b="true" sz="30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TOTAL ANGKA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98006" y="6656387"/>
            <a:ext cx="4228373" cy="59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59"/>
              </a:lnSpc>
            </a:pPr>
            <a:r>
              <a:rPr lang="en-US" b="true" sz="30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STOPWATCH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98006" y="8531645"/>
            <a:ext cx="4228373" cy="59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59"/>
              </a:lnSpc>
            </a:pPr>
            <a:r>
              <a:rPr lang="en-US" b="true" sz="30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PIRAMID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50322" y="4785041"/>
            <a:ext cx="4228373" cy="59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59"/>
              </a:lnSpc>
            </a:pPr>
            <a:r>
              <a:rPr lang="en-US" b="true" sz="30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HOME 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50322" y="6531196"/>
            <a:ext cx="4228373" cy="59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59"/>
              </a:lnSpc>
            </a:pPr>
            <a:r>
              <a:rPr lang="en-US" b="true" sz="30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DATA KELOMPOK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872689" y="4640210"/>
            <a:ext cx="1068720" cy="1008483"/>
          </a:xfrm>
          <a:custGeom>
            <a:avLst/>
            <a:gdLst/>
            <a:ahLst/>
            <a:cxnLst/>
            <a:rect r="r" b="b" t="t" l="l"/>
            <a:pathLst>
              <a:path h="1008483" w="1068720">
                <a:moveTo>
                  <a:pt x="0" y="0"/>
                </a:moveTo>
                <a:lnTo>
                  <a:pt x="1068720" y="0"/>
                </a:lnTo>
                <a:lnTo>
                  <a:pt x="1068720" y="1008483"/>
                </a:lnTo>
                <a:lnTo>
                  <a:pt x="0" y="100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72689" y="6386366"/>
            <a:ext cx="1068720" cy="1008483"/>
          </a:xfrm>
          <a:custGeom>
            <a:avLst/>
            <a:gdLst/>
            <a:ahLst/>
            <a:cxnLst/>
            <a:rect r="r" b="b" t="t" l="l"/>
            <a:pathLst>
              <a:path h="1008483" w="1068720">
                <a:moveTo>
                  <a:pt x="0" y="0"/>
                </a:moveTo>
                <a:lnTo>
                  <a:pt x="1068720" y="0"/>
                </a:lnTo>
                <a:lnTo>
                  <a:pt x="1068720" y="1008482"/>
                </a:lnTo>
                <a:lnTo>
                  <a:pt x="0" y="100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72689" y="8290782"/>
            <a:ext cx="1068720" cy="1008483"/>
          </a:xfrm>
          <a:custGeom>
            <a:avLst/>
            <a:gdLst/>
            <a:ahLst/>
            <a:cxnLst/>
            <a:rect r="r" b="b" t="t" l="l"/>
            <a:pathLst>
              <a:path h="1008483" w="1068720">
                <a:moveTo>
                  <a:pt x="0" y="0"/>
                </a:moveTo>
                <a:lnTo>
                  <a:pt x="1068720" y="0"/>
                </a:lnTo>
                <a:lnTo>
                  <a:pt x="1068720" y="1008483"/>
                </a:lnTo>
                <a:lnTo>
                  <a:pt x="0" y="100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350322" y="8435613"/>
            <a:ext cx="4228373" cy="59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59"/>
              </a:lnSpc>
            </a:pPr>
            <a:r>
              <a:rPr lang="en-US" b="true" sz="30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KALKULATOR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513136" y="2952281"/>
            <a:ext cx="1068720" cy="1008483"/>
          </a:xfrm>
          <a:custGeom>
            <a:avLst/>
            <a:gdLst/>
            <a:ahLst/>
            <a:cxnLst/>
            <a:rect r="r" b="b" t="t" l="l"/>
            <a:pathLst>
              <a:path h="1008483" w="1068720">
                <a:moveTo>
                  <a:pt x="0" y="0"/>
                </a:moveTo>
                <a:lnTo>
                  <a:pt x="1068720" y="0"/>
                </a:lnTo>
                <a:lnTo>
                  <a:pt x="1068720" y="1008483"/>
                </a:lnTo>
                <a:lnTo>
                  <a:pt x="0" y="100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513136" y="4640210"/>
            <a:ext cx="1068720" cy="1008483"/>
          </a:xfrm>
          <a:custGeom>
            <a:avLst/>
            <a:gdLst/>
            <a:ahLst/>
            <a:cxnLst/>
            <a:rect r="r" b="b" t="t" l="l"/>
            <a:pathLst>
              <a:path h="1008483" w="1068720">
                <a:moveTo>
                  <a:pt x="0" y="0"/>
                </a:moveTo>
                <a:lnTo>
                  <a:pt x="1068720" y="0"/>
                </a:lnTo>
                <a:lnTo>
                  <a:pt x="1068720" y="1008483"/>
                </a:lnTo>
                <a:lnTo>
                  <a:pt x="0" y="100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513136" y="6511557"/>
            <a:ext cx="1068720" cy="1008483"/>
          </a:xfrm>
          <a:custGeom>
            <a:avLst/>
            <a:gdLst/>
            <a:ahLst/>
            <a:cxnLst/>
            <a:rect r="r" b="b" t="t" l="l"/>
            <a:pathLst>
              <a:path h="1008483" w="1068720">
                <a:moveTo>
                  <a:pt x="0" y="0"/>
                </a:moveTo>
                <a:lnTo>
                  <a:pt x="1068720" y="0"/>
                </a:lnTo>
                <a:lnTo>
                  <a:pt x="1068720" y="1008482"/>
                </a:lnTo>
                <a:lnTo>
                  <a:pt x="0" y="100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13136" y="8386814"/>
            <a:ext cx="1068720" cy="1008483"/>
          </a:xfrm>
          <a:custGeom>
            <a:avLst/>
            <a:gdLst/>
            <a:ahLst/>
            <a:cxnLst/>
            <a:rect r="r" b="b" t="t" l="l"/>
            <a:pathLst>
              <a:path h="1008483" w="1068720">
                <a:moveTo>
                  <a:pt x="0" y="0"/>
                </a:moveTo>
                <a:lnTo>
                  <a:pt x="1068720" y="0"/>
                </a:lnTo>
                <a:lnTo>
                  <a:pt x="1068720" y="1008483"/>
                </a:lnTo>
                <a:lnTo>
                  <a:pt x="0" y="100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6735" y="499962"/>
            <a:ext cx="9485393" cy="2172347"/>
            <a:chOff x="0" y="0"/>
            <a:chExt cx="2498210" cy="572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98210" cy="572141"/>
            </a:xfrm>
            <a:custGeom>
              <a:avLst/>
              <a:gdLst/>
              <a:ahLst/>
              <a:cxnLst/>
              <a:rect r="r" b="b" t="t" l="l"/>
              <a:pathLst>
                <a:path h="572141" w="2498210">
                  <a:moveTo>
                    <a:pt x="41626" y="0"/>
                  </a:moveTo>
                  <a:lnTo>
                    <a:pt x="2456585" y="0"/>
                  </a:lnTo>
                  <a:cubicBezTo>
                    <a:pt x="2467625" y="0"/>
                    <a:pt x="2478212" y="4386"/>
                    <a:pt x="2486019" y="12192"/>
                  </a:cubicBezTo>
                  <a:cubicBezTo>
                    <a:pt x="2493825" y="19998"/>
                    <a:pt x="2498210" y="30586"/>
                    <a:pt x="2498210" y="41626"/>
                  </a:cubicBezTo>
                  <a:lnTo>
                    <a:pt x="2498210" y="530515"/>
                  </a:lnTo>
                  <a:cubicBezTo>
                    <a:pt x="2498210" y="541555"/>
                    <a:pt x="2493825" y="552143"/>
                    <a:pt x="2486019" y="559949"/>
                  </a:cubicBezTo>
                  <a:cubicBezTo>
                    <a:pt x="2478212" y="567755"/>
                    <a:pt x="2467625" y="572141"/>
                    <a:pt x="2456585" y="572141"/>
                  </a:cubicBezTo>
                  <a:lnTo>
                    <a:pt x="41626" y="572141"/>
                  </a:lnTo>
                  <a:cubicBezTo>
                    <a:pt x="30586" y="572141"/>
                    <a:pt x="19998" y="567755"/>
                    <a:pt x="12192" y="559949"/>
                  </a:cubicBezTo>
                  <a:cubicBezTo>
                    <a:pt x="4386" y="552143"/>
                    <a:pt x="0" y="541555"/>
                    <a:pt x="0" y="530515"/>
                  </a:cubicBezTo>
                  <a:lnTo>
                    <a:pt x="0" y="41626"/>
                  </a:lnTo>
                  <a:cubicBezTo>
                    <a:pt x="0" y="30586"/>
                    <a:pt x="4386" y="19998"/>
                    <a:pt x="12192" y="12192"/>
                  </a:cubicBezTo>
                  <a:cubicBezTo>
                    <a:pt x="19998" y="4386"/>
                    <a:pt x="30586" y="0"/>
                    <a:pt x="41626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2498210" cy="534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655049" y="778610"/>
            <a:ext cx="2034247" cy="1893699"/>
          </a:xfrm>
          <a:custGeom>
            <a:avLst/>
            <a:gdLst/>
            <a:ahLst/>
            <a:cxnLst/>
            <a:rect r="r" b="b" t="t" l="l"/>
            <a:pathLst>
              <a:path h="1893699" w="2034247">
                <a:moveTo>
                  <a:pt x="0" y="0"/>
                </a:moveTo>
                <a:lnTo>
                  <a:pt x="2034247" y="0"/>
                </a:lnTo>
                <a:lnTo>
                  <a:pt x="2034247" y="1893699"/>
                </a:lnTo>
                <a:lnTo>
                  <a:pt x="0" y="1893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26735" y="3269044"/>
            <a:ext cx="12340626" cy="6587343"/>
            <a:chOff x="0" y="0"/>
            <a:chExt cx="3250206" cy="17349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0206" cy="1734938"/>
            </a:xfrm>
            <a:custGeom>
              <a:avLst/>
              <a:gdLst/>
              <a:ahLst/>
              <a:cxnLst/>
              <a:rect r="r" b="b" t="t" l="l"/>
              <a:pathLst>
                <a:path h="1734938" w="3250206">
                  <a:moveTo>
                    <a:pt x="31995" y="0"/>
                  </a:moveTo>
                  <a:lnTo>
                    <a:pt x="3218211" y="0"/>
                  </a:lnTo>
                  <a:cubicBezTo>
                    <a:pt x="3226697" y="0"/>
                    <a:pt x="3234835" y="3371"/>
                    <a:pt x="3240835" y="9371"/>
                  </a:cubicBezTo>
                  <a:cubicBezTo>
                    <a:pt x="3246835" y="15371"/>
                    <a:pt x="3250206" y="23509"/>
                    <a:pt x="3250206" y="31995"/>
                  </a:cubicBezTo>
                  <a:lnTo>
                    <a:pt x="3250206" y="1702943"/>
                  </a:lnTo>
                  <a:cubicBezTo>
                    <a:pt x="3250206" y="1711429"/>
                    <a:pt x="3246835" y="1719567"/>
                    <a:pt x="3240835" y="1725567"/>
                  </a:cubicBezTo>
                  <a:cubicBezTo>
                    <a:pt x="3234835" y="1731567"/>
                    <a:pt x="3226697" y="1734938"/>
                    <a:pt x="3218211" y="1734938"/>
                  </a:cubicBezTo>
                  <a:lnTo>
                    <a:pt x="31995" y="1734938"/>
                  </a:lnTo>
                  <a:cubicBezTo>
                    <a:pt x="23509" y="1734938"/>
                    <a:pt x="15371" y="1731567"/>
                    <a:pt x="9371" y="1725567"/>
                  </a:cubicBezTo>
                  <a:cubicBezTo>
                    <a:pt x="3371" y="1719567"/>
                    <a:pt x="0" y="1711429"/>
                    <a:pt x="0" y="1702943"/>
                  </a:cubicBezTo>
                  <a:lnTo>
                    <a:pt x="0" y="31995"/>
                  </a:lnTo>
                  <a:cubicBezTo>
                    <a:pt x="0" y="23509"/>
                    <a:pt x="3371" y="15371"/>
                    <a:pt x="9371" y="9371"/>
                  </a:cubicBezTo>
                  <a:cubicBezTo>
                    <a:pt x="15371" y="3371"/>
                    <a:pt x="23509" y="0"/>
                    <a:pt x="31995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3250206" cy="1696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047331" y="8578854"/>
            <a:ext cx="1440059" cy="1358892"/>
          </a:xfrm>
          <a:custGeom>
            <a:avLst/>
            <a:gdLst/>
            <a:ahLst/>
            <a:cxnLst/>
            <a:rect r="r" b="b" t="t" l="l"/>
            <a:pathLst>
              <a:path h="1358892" w="1440059">
                <a:moveTo>
                  <a:pt x="0" y="0"/>
                </a:moveTo>
                <a:lnTo>
                  <a:pt x="1440059" y="0"/>
                </a:lnTo>
                <a:lnTo>
                  <a:pt x="1440059" y="1358892"/>
                </a:lnTo>
                <a:lnTo>
                  <a:pt x="0" y="1358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87390" y="1028700"/>
            <a:ext cx="3827083" cy="8342347"/>
          </a:xfrm>
          <a:custGeom>
            <a:avLst/>
            <a:gdLst/>
            <a:ahLst/>
            <a:cxnLst/>
            <a:rect r="r" b="b" t="t" l="l"/>
            <a:pathLst>
              <a:path h="8342347" w="3827083">
                <a:moveTo>
                  <a:pt x="0" y="0"/>
                </a:moveTo>
                <a:lnTo>
                  <a:pt x="3827083" y="0"/>
                </a:lnTo>
                <a:lnTo>
                  <a:pt x="3827083" y="8342347"/>
                </a:lnTo>
                <a:lnTo>
                  <a:pt x="0" y="83423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526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9150" y="1073100"/>
            <a:ext cx="8175748" cy="109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7645" i="true">
                <a:solidFill>
                  <a:srgbClr val="280F91"/>
                </a:solidFill>
                <a:latin typeface="Loubag Bold"/>
                <a:ea typeface="Loubag Bold"/>
                <a:cs typeface="Loubag Bold"/>
                <a:sym typeface="Loubag Bold"/>
              </a:rPr>
              <a:t>Sistem Login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6756" y="4074171"/>
            <a:ext cx="10825417" cy="511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Aut</a:t>
            </a: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entikasi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Validasi kecocokan username dan password menggunakan logika if-else.</a:t>
            </a:r>
          </a:p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Validasi Input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Pengecekan otomatis untuk memastikan kolom tidak kosong sebelum proses masuk.</a:t>
            </a:r>
          </a:p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Feedback Sistem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Notifikasi SnackBar untuk memberikan respon berhasil atau gagal secara real-time.</a:t>
            </a:r>
          </a:p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Navigasi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Perpindahan halaman menggunakan pushReplacement untuk menjaga alur aplikasi tetap searah.</a:t>
            </a:r>
          </a:p>
          <a:p>
            <a:pPr algn="l" marL="0" indent="0" lvl="0">
              <a:lnSpc>
                <a:spcPts val="450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6735" y="499962"/>
            <a:ext cx="9485393" cy="2172347"/>
            <a:chOff x="0" y="0"/>
            <a:chExt cx="2498210" cy="572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98210" cy="572141"/>
            </a:xfrm>
            <a:custGeom>
              <a:avLst/>
              <a:gdLst/>
              <a:ahLst/>
              <a:cxnLst/>
              <a:rect r="r" b="b" t="t" l="l"/>
              <a:pathLst>
                <a:path h="572141" w="2498210">
                  <a:moveTo>
                    <a:pt x="41626" y="0"/>
                  </a:moveTo>
                  <a:lnTo>
                    <a:pt x="2456585" y="0"/>
                  </a:lnTo>
                  <a:cubicBezTo>
                    <a:pt x="2467625" y="0"/>
                    <a:pt x="2478212" y="4386"/>
                    <a:pt x="2486019" y="12192"/>
                  </a:cubicBezTo>
                  <a:cubicBezTo>
                    <a:pt x="2493825" y="19998"/>
                    <a:pt x="2498210" y="30586"/>
                    <a:pt x="2498210" y="41626"/>
                  </a:cubicBezTo>
                  <a:lnTo>
                    <a:pt x="2498210" y="530515"/>
                  </a:lnTo>
                  <a:cubicBezTo>
                    <a:pt x="2498210" y="541555"/>
                    <a:pt x="2493825" y="552143"/>
                    <a:pt x="2486019" y="559949"/>
                  </a:cubicBezTo>
                  <a:cubicBezTo>
                    <a:pt x="2478212" y="567755"/>
                    <a:pt x="2467625" y="572141"/>
                    <a:pt x="2456585" y="572141"/>
                  </a:cubicBezTo>
                  <a:lnTo>
                    <a:pt x="41626" y="572141"/>
                  </a:lnTo>
                  <a:cubicBezTo>
                    <a:pt x="30586" y="572141"/>
                    <a:pt x="19998" y="567755"/>
                    <a:pt x="12192" y="559949"/>
                  </a:cubicBezTo>
                  <a:cubicBezTo>
                    <a:pt x="4386" y="552143"/>
                    <a:pt x="0" y="541555"/>
                    <a:pt x="0" y="530515"/>
                  </a:cubicBezTo>
                  <a:lnTo>
                    <a:pt x="0" y="41626"/>
                  </a:lnTo>
                  <a:cubicBezTo>
                    <a:pt x="0" y="30586"/>
                    <a:pt x="4386" y="19998"/>
                    <a:pt x="12192" y="12192"/>
                  </a:cubicBezTo>
                  <a:cubicBezTo>
                    <a:pt x="19998" y="4386"/>
                    <a:pt x="30586" y="0"/>
                    <a:pt x="41626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2498210" cy="534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655049" y="778610"/>
            <a:ext cx="2034247" cy="1893699"/>
          </a:xfrm>
          <a:custGeom>
            <a:avLst/>
            <a:gdLst/>
            <a:ahLst/>
            <a:cxnLst/>
            <a:rect r="r" b="b" t="t" l="l"/>
            <a:pathLst>
              <a:path h="1893699" w="2034247">
                <a:moveTo>
                  <a:pt x="0" y="0"/>
                </a:moveTo>
                <a:lnTo>
                  <a:pt x="2034247" y="0"/>
                </a:lnTo>
                <a:lnTo>
                  <a:pt x="2034247" y="1893699"/>
                </a:lnTo>
                <a:lnTo>
                  <a:pt x="0" y="1893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26735" y="3269044"/>
            <a:ext cx="12340626" cy="5510787"/>
            <a:chOff x="0" y="0"/>
            <a:chExt cx="3250206" cy="14514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0206" cy="1451401"/>
            </a:xfrm>
            <a:custGeom>
              <a:avLst/>
              <a:gdLst/>
              <a:ahLst/>
              <a:cxnLst/>
              <a:rect r="r" b="b" t="t" l="l"/>
              <a:pathLst>
                <a:path h="1451401" w="3250206">
                  <a:moveTo>
                    <a:pt x="31995" y="0"/>
                  </a:moveTo>
                  <a:lnTo>
                    <a:pt x="3218211" y="0"/>
                  </a:lnTo>
                  <a:cubicBezTo>
                    <a:pt x="3226697" y="0"/>
                    <a:pt x="3234835" y="3371"/>
                    <a:pt x="3240835" y="9371"/>
                  </a:cubicBezTo>
                  <a:cubicBezTo>
                    <a:pt x="3246835" y="15371"/>
                    <a:pt x="3250206" y="23509"/>
                    <a:pt x="3250206" y="31995"/>
                  </a:cubicBezTo>
                  <a:lnTo>
                    <a:pt x="3250206" y="1419406"/>
                  </a:lnTo>
                  <a:cubicBezTo>
                    <a:pt x="3250206" y="1427891"/>
                    <a:pt x="3246835" y="1436029"/>
                    <a:pt x="3240835" y="1442030"/>
                  </a:cubicBezTo>
                  <a:cubicBezTo>
                    <a:pt x="3234835" y="1448030"/>
                    <a:pt x="3226697" y="1451401"/>
                    <a:pt x="3218211" y="1451401"/>
                  </a:cubicBezTo>
                  <a:lnTo>
                    <a:pt x="31995" y="1451401"/>
                  </a:lnTo>
                  <a:cubicBezTo>
                    <a:pt x="23509" y="1451401"/>
                    <a:pt x="15371" y="1448030"/>
                    <a:pt x="9371" y="1442030"/>
                  </a:cubicBezTo>
                  <a:cubicBezTo>
                    <a:pt x="3371" y="1436029"/>
                    <a:pt x="0" y="1427891"/>
                    <a:pt x="0" y="1419406"/>
                  </a:cubicBezTo>
                  <a:lnTo>
                    <a:pt x="0" y="31995"/>
                  </a:lnTo>
                  <a:cubicBezTo>
                    <a:pt x="0" y="23509"/>
                    <a:pt x="3371" y="15371"/>
                    <a:pt x="9371" y="9371"/>
                  </a:cubicBezTo>
                  <a:cubicBezTo>
                    <a:pt x="15371" y="3371"/>
                    <a:pt x="23509" y="0"/>
                    <a:pt x="31995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3250206" cy="141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047331" y="8578854"/>
            <a:ext cx="1440059" cy="1358892"/>
          </a:xfrm>
          <a:custGeom>
            <a:avLst/>
            <a:gdLst/>
            <a:ahLst/>
            <a:cxnLst/>
            <a:rect r="r" b="b" t="t" l="l"/>
            <a:pathLst>
              <a:path h="1358892" w="1440059">
                <a:moveTo>
                  <a:pt x="0" y="0"/>
                </a:moveTo>
                <a:lnTo>
                  <a:pt x="1440059" y="0"/>
                </a:lnTo>
                <a:lnTo>
                  <a:pt x="1440059" y="1358892"/>
                </a:lnTo>
                <a:lnTo>
                  <a:pt x="0" y="1358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01698" y="778610"/>
            <a:ext cx="4050994" cy="8951389"/>
          </a:xfrm>
          <a:custGeom>
            <a:avLst/>
            <a:gdLst/>
            <a:ahLst/>
            <a:cxnLst/>
            <a:rect r="r" b="b" t="t" l="l"/>
            <a:pathLst>
              <a:path h="8951389" w="4050994">
                <a:moveTo>
                  <a:pt x="0" y="0"/>
                </a:moveTo>
                <a:lnTo>
                  <a:pt x="4050994" y="0"/>
                </a:lnTo>
                <a:lnTo>
                  <a:pt x="4050994" y="8951390"/>
                </a:lnTo>
                <a:lnTo>
                  <a:pt x="0" y="8951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9150" y="1073100"/>
            <a:ext cx="8175748" cy="109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7645" i="true">
                <a:solidFill>
                  <a:srgbClr val="280F91"/>
                </a:solidFill>
                <a:latin typeface="Loubag Bold"/>
                <a:ea typeface="Loubag Bold"/>
                <a:cs typeface="Loubag Bold"/>
                <a:sym typeface="Loubag Bold"/>
              </a:rPr>
              <a:t>Home Page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150" y="3664947"/>
            <a:ext cx="10825417" cy="511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N</a:t>
            </a: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avigasi Terpusat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Dashboard interaktif menggunakan GridView untuk akses cepat ke seluruh fitur aplikasi.</a:t>
            </a:r>
          </a:p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Interaksi Responsif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Perpindahan halaman yang mulus menggunakan rute MaterialPageRoute.</a:t>
            </a:r>
          </a:p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Kontrol Keamanan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Fitur Logout dengan dialog konfirmasi untuk mengakhiri sesi pengguna.</a:t>
            </a:r>
          </a:p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Manajemen Rute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Penggunaan pushAndRemoveUntil untuk membersihkan riwayat navigasi saat keluar.</a:t>
            </a:r>
          </a:p>
          <a:p>
            <a:pPr algn="l" marL="0" indent="0" lvl="0">
              <a:lnSpc>
                <a:spcPts val="450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6735" y="499962"/>
            <a:ext cx="9485393" cy="2172347"/>
            <a:chOff x="0" y="0"/>
            <a:chExt cx="2498210" cy="572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98210" cy="572141"/>
            </a:xfrm>
            <a:custGeom>
              <a:avLst/>
              <a:gdLst/>
              <a:ahLst/>
              <a:cxnLst/>
              <a:rect r="r" b="b" t="t" l="l"/>
              <a:pathLst>
                <a:path h="572141" w="2498210">
                  <a:moveTo>
                    <a:pt x="41626" y="0"/>
                  </a:moveTo>
                  <a:lnTo>
                    <a:pt x="2456585" y="0"/>
                  </a:lnTo>
                  <a:cubicBezTo>
                    <a:pt x="2467625" y="0"/>
                    <a:pt x="2478212" y="4386"/>
                    <a:pt x="2486019" y="12192"/>
                  </a:cubicBezTo>
                  <a:cubicBezTo>
                    <a:pt x="2493825" y="19998"/>
                    <a:pt x="2498210" y="30586"/>
                    <a:pt x="2498210" y="41626"/>
                  </a:cubicBezTo>
                  <a:lnTo>
                    <a:pt x="2498210" y="530515"/>
                  </a:lnTo>
                  <a:cubicBezTo>
                    <a:pt x="2498210" y="541555"/>
                    <a:pt x="2493825" y="552143"/>
                    <a:pt x="2486019" y="559949"/>
                  </a:cubicBezTo>
                  <a:cubicBezTo>
                    <a:pt x="2478212" y="567755"/>
                    <a:pt x="2467625" y="572141"/>
                    <a:pt x="2456585" y="572141"/>
                  </a:cubicBezTo>
                  <a:lnTo>
                    <a:pt x="41626" y="572141"/>
                  </a:lnTo>
                  <a:cubicBezTo>
                    <a:pt x="30586" y="572141"/>
                    <a:pt x="19998" y="567755"/>
                    <a:pt x="12192" y="559949"/>
                  </a:cubicBezTo>
                  <a:cubicBezTo>
                    <a:pt x="4386" y="552143"/>
                    <a:pt x="0" y="541555"/>
                    <a:pt x="0" y="530515"/>
                  </a:cubicBezTo>
                  <a:lnTo>
                    <a:pt x="0" y="41626"/>
                  </a:lnTo>
                  <a:cubicBezTo>
                    <a:pt x="0" y="30586"/>
                    <a:pt x="4386" y="19998"/>
                    <a:pt x="12192" y="12192"/>
                  </a:cubicBezTo>
                  <a:cubicBezTo>
                    <a:pt x="19998" y="4386"/>
                    <a:pt x="30586" y="0"/>
                    <a:pt x="41626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2498210" cy="534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655049" y="778610"/>
            <a:ext cx="2034247" cy="1893699"/>
          </a:xfrm>
          <a:custGeom>
            <a:avLst/>
            <a:gdLst/>
            <a:ahLst/>
            <a:cxnLst/>
            <a:rect r="r" b="b" t="t" l="l"/>
            <a:pathLst>
              <a:path h="1893699" w="2034247">
                <a:moveTo>
                  <a:pt x="0" y="0"/>
                </a:moveTo>
                <a:lnTo>
                  <a:pt x="2034247" y="0"/>
                </a:lnTo>
                <a:lnTo>
                  <a:pt x="2034247" y="1893699"/>
                </a:lnTo>
                <a:lnTo>
                  <a:pt x="0" y="1893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26735" y="3269044"/>
            <a:ext cx="12340626" cy="6653787"/>
            <a:chOff x="0" y="0"/>
            <a:chExt cx="3250206" cy="1752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0206" cy="1752438"/>
            </a:xfrm>
            <a:custGeom>
              <a:avLst/>
              <a:gdLst/>
              <a:ahLst/>
              <a:cxnLst/>
              <a:rect r="r" b="b" t="t" l="l"/>
              <a:pathLst>
                <a:path h="1752438" w="3250206">
                  <a:moveTo>
                    <a:pt x="31995" y="0"/>
                  </a:moveTo>
                  <a:lnTo>
                    <a:pt x="3218211" y="0"/>
                  </a:lnTo>
                  <a:cubicBezTo>
                    <a:pt x="3226697" y="0"/>
                    <a:pt x="3234835" y="3371"/>
                    <a:pt x="3240835" y="9371"/>
                  </a:cubicBezTo>
                  <a:cubicBezTo>
                    <a:pt x="3246835" y="15371"/>
                    <a:pt x="3250206" y="23509"/>
                    <a:pt x="3250206" y="31995"/>
                  </a:cubicBezTo>
                  <a:lnTo>
                    <a:pt x="3250206" y="1720443"/>
                  </a:lnTo>
                  <a:cubicBezTo>
                    <a:pt x="3250206" y="1728928"/>
                    <a:pt x="3246835" y="1737066"/>
                    <a:pt x="3240835" y="1743066"/>
                  </a:cubicBezTo>
                  <a:cubicBezTo>
                    <a:pt x="3234835" y="1749067"/>
                    <a:pt x="3226697" y="1752438"/>
                    <a:pt x="3218211" y="1752438"/>
                  </a:cubicBezTo>
                  <a:lnTo>
                    <a:pt x="31995" y="1752438"/>
                  </a:lnTo>
                  <a:cubicBezTo>
                    <a:pt x="23509" y="1752438"/>
                    <a:pt x="15371" y="1749067"/>
                    <a:pt x="9371" y="1743066"/>
                  </a:cubicBezTo>
                  <a:cubicBezTo>
                    <a:pt x="3371" y="1737066"/>
                    <a:pt x="0" y="1728928"/>
                    <a:pt x="0" y="1720443"/>
                  </a:cubicBezTo>
                  <a:lnTo>
                    <a:pt x="0" y="31995"/>
                  </a:lnTo>
                  <a:cubicBezTo>
                    <a:pt x="0" y="23509"/>
                    <a:pt x="3371" y="15371"/>
                    <a:pt x="9371" y="9371"/>
                  </a:cubicBezTo>
                  <a:cubicBezTo>
                    <a:pt x="15371" y="3371"/>
                    <a:pt x="23509" y="0"/>
                    <a:pt x="31995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3250206" cy="17143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047331" y="8578854"/>
            <a:ext cx="1440059" cy="1358892"/>
          </a:xfrm>
          <a:custGeom>
            <a:avLst/>
            <a:gdLst/>
            <a:ahLst/>
            <a:cxnLst/>
            <a:rect r="r" b="b" t="t" l="l"/>
            <a:pathLst>
              <a:path h="1358892" w="1440059">
                <a:moveTo>
                  <a:pt x="0" y="0"/>
                </a:moveTo>
                <a:lnTo>
                  <a:pt x="1440059" y="0"/>
                </a:lnTo>
                <a:lnTo>
                  <a:pt x="1440059" y="1358892"/>
                </a:lnTo>
                <a:lnTo>
                  <a:pt x="0" y="1358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54535" y="1006425"/>
            <a:ext cx="3924156" cy="8686482"/>
          </a:xfrm>
          <a:custGeom>
            <a:avLst/>
            <a:gdLst/>
            <a:ahLst/>
            <a:cxnLst/>
            <a:rect r="r" b="b" t="t" l="l"/>
            <a:pathLst>
              <a:path h="8686482" w="3924156">
                <a:moveTo>
                  <a:pt x="0" y="0"/>
                </a:moveTo>
                <a:lnTo>
                  <a:pt x="3924156" y="0"/>
                </a:lnTo>
                <a:lnTo>
                  <a:pt x="3924156" y="8686482"/>
                </a:lnTo>
                <a:lnTo>
                  <a:pt x="0" y="86864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9150" y="1073100"/>
            <a:ext cx="8175748" cy="109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7645" i="true">
                <a:solidFill>
                  <a:srgbClr val="280F91"/>
                </a:solidFill>
                <a:latin typeface="Loubag Bold"/>
                <a:ea typeface="Loubag Bold"/>
                <a:cs typeface="Loubag Bold"/>
                <a:sym typeface="Loubag Bold"/>
              </a:rPr>
              <a:t>Data Kelompok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150" y="3664947"/>
            <a:ext cx="10825417" cy="625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Peny</a:t>
            </a: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ajian Data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Menampilkan daftar nama dan NIM seluruh anggota pengembang aplikasi secara terstruktur.</a:t>
            </a:r>
          </a:p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Efisiensi Kode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Menggunakan reusable widget _buildMemberCard untuk merender kartu profil setiap anggota.</a:t>
            </a:r>
          </a:p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</a:t>
            </a: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truktur Statis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Implementasi StatelessWidget karena informasi data anggota tidak memerlukan perubahan state.</a:t>
            </a:r>
          </a:p>
          <a:p>
            <a:pPr algn="l" marL="607395" indent="-303698" lvl="1">
              <a:lnSpc>
                <a:spcPts val="4501"/>
              </a:lnSpc>
              <a:buFont typeface="Arial"/>
              <a:buChar char="•"/>
            </a:pPr>
            <a:r>
              <a:rPr lang="en-US" b="true" sz="28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Aksesibilitas UI</a:t>
            </a:r>
            <a:r>
              <a:rPr lang="en-US" sz="28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Penggunaan SingleChildScrollView untuk memastikan daftar tetap dapat di- scroll pada berbagai ukuran layar.</a:t>
            </a:r>
          </a:p>
          <a:p>
            <a:pPr algn="l" marL="0" indent="0" lvl="0">
              <a:lnSpc>
                <a:spcPts val="450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6735" y="549361"/>
            <a:ext cx="7651625" cy="2172347"/>
            <a:chOff x="0" y="0"/>
            <a:chExt cx="2015243" cy="572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5243" cy="572141"/>
            </a:xfrm>
            <a:custGeom>
              <a:avLst/>
              <a:gdLst/>
              <a:ahLst/>
              <a:cxnLst/>
              <a:rect r="r" b="b" t="t" l="l"/>
              <a:pathLst>
                <a:path h="572141" w="2015243">
                  <a:moveTo>
                    <a:pt x="51602" y="0"/>
                  </a:moveTo>
                  <a:lnTo>
                    <a:pt x="1963641" y="0"/>
                  </a:lnTo>
                  <a:cubicBezTo>
                    <a:pt x="1992140" y="0"/>
                    <a:pt x="2015243" y="23103"/>
                    <a:pt x="2015243" y="51602"/>
                  </a:cubicBezTo>
                  <a:lnTo>
                    <a:pt x="2015243" y="520539"/>
                  </a:lnTo>
                  <a:cubicBezTo>
                    <a:pt x="2015243" y="549038"/>
                    <a:pt x="1992140" y="572141"/>
                    <a:pt x="1963641" y="572141"/>
                  </a:cubicBezTo>
                  <a:lnTo>
                    <a:pt x="51602" y="572141"/>
                  </a:lnTo>
                  <a:cubicBezTo>
                    <a:pt x="23103" y="572141"/>
                    <a:pt x="0" y="549038"/>
                    <a:pt x="0" y="520539"/>
                  </a:cubicBezTo>
                  <a:lnTo>
                    <a:pt x="0" y="51602"/>
                  </a:lnTo>
                  <a:cubicBezTo>
                    <a:pt x="0" y="23103"/>
                    <a:pt x="23103" y="0"/>
                    <a:pt x="51602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2015243" cy="534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40421" y="688686"/>
            <a:ext cx="2034247" cy="1893699"/>
          </a:xfrm>
          <a:custGeom>
            <a:avLst/>
            <a:gdLst/>
            <a:ahLst/>
            <a:cxnLst/>
            <a:rect r="r" b="b" t="t" l="l"/>
            <a:pathLst>
              <a:path h="1893699" w="2034247">
                <a:moveTo>
                  <a:pt x="0" y="0"/>
                </a:moveTo>
                <a:lnTo>
                  <a:pt x="2034247" y="0"/>
                </a:lnTo>
                <a:lnTo>
                  <a:pt x="2034247" y="1893698"/>
                </a:lnTo>
                <a:lnTo>
                  <a:pt x="0" y="1893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70276" y="3262066"/>
            <a:ext cx="11670769" cy="5095281"/>
            <a:chOff x="0" y="0"/>
            <a:chExt cx="3073783" cy="1341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73783" cy="1341967"/>
            </a:xfrm>
            <a:custGeom>
              <a:avLst/>
              <a:gdLst/>
              <a:ahLst/>
              <a:cxnLst/>
              <a:rect r="r" b="b" t="t" l="l"/>
              <a:pathLst>
                <a:path h="1341967" w="3073783">
                  <a:moveTo>
                    <a:pt x="33831" y="0"/>
                  </a:moveTo>
                  <a:lnTo>
                    <a:pt x="3039951" y="0"/>
                  </a:lnTo>
                  <a:cubicBezTo>
                    <a:pt x="3048924" y="0"/>
                    <a:pt x="3057529" y="3564"/>
                    <a:pt x="3063874" y="9909"/>
                  </a:cubicBezTo>
                  <a:cubicBezTo>
                    <a:pt x="3070218" y="16254"/>
                    <a:pt x="3073783" y="24859"/>
                    <a:pt x="3073783" y="33831"/>
                  </a:cubicBezTo>
                  <a:lnTo>
                    <a:pt x="3073783" y="1308136"/>
                  </a:lnTo>
                  <a:cubicBezTo>
                    <a:pt x="3073783" y="1317108"/>
                    <a:pt x="3070218" y="1325713"/>
                    <a:pt x="3063874" y="1332058"/>
                  </a:cubicBezTo>
                  <a:cubicBezTo>
                    <a:pt x="3057529" y="1338403"/>
                    <a:pt x="3048924" y="1341967"/>
                    <a:pt x="3039951" y="1341967"/>
                  </a:cubicBezTo>
                  <a:lnTo>
                    <a:pt x="33831" y="1341967"/>
                  </a:lnTo>
                  <a:cubicBezTo>
                    <a:pt x="24859" y="1341967"/>
                    <a:pt x="16254" y="1338403"/>
                    <a:pt x="9909" y="1332058"/>
                  </a:cubicBezTo>
                  <a:cubicBezTo>
                    <a:pt x="3564" y="1325713"/>
                    <a:pt x="0" y="1317108"/>
                    <a:pt x="0" y="1308136"/>
                  </a:cubicBezTo>
                  <a:lnTo>
                    <a:pt x="0" y="33831"/>
                  </a:lnTo>
                  <a:cubicBezTo>
                    <a:pt x="0" y="24859"/>
                    <a:pt x="3564" y="16254"/>
                    <a:pt x="9909" y="9909"/>
                  </a:cubicBezTo>
                  <a:cubicBezTo>
                    <a:pt x="16254" y="3564"/>
                    <a:pt x="24859" y="0"/>
                    <a:pt x="33831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3073783" cy="1303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521015" y="8578854"/>
            <a:ext cx="1440059" cy="1358892"/>
          </a:xfrm>
          <a:custGeom>
            <a:avLst/>
            <a:gdLst/>
            <a:ahLst/>
            <a:cxnLst/>
            <a:rect r="r" b="b" t="t" l="l"/>
            <a:pathLst>
              <a:path h="1358892" w="1440059">
                <a:moveTo>
                  <a:pt x="0" y="0"/>
                </a:moveTo>
                <a:lnTo>
                  <a:pt x="1440059" y="0"/>
                </a:lnTo>
                <a:lnTo>
                  <a:pt x="1440059" y="1358892"/>
                </a:lnTo>
                <a:lnTo>
                  <a:pt x="0" y="1358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68813" y="580049"/>
            <a:ext cx="3827083" cy="8678251"/>
          </a:xfrm>
          <a:custGeom>
            <a:avLst/>
            <a:gdLst/>
            <a:ahLst/>
            <a:cxnLst/>
            <a:rect r="r" b="b" t="t" l="l"/>
            <a:pathLst>
              <a:path h="8678251" w="3827083">
                <a:moveTo>
                  <a:pt x="0" y="0"/>
                </a:moveTo>
                <a:lnTo>
                  <a:pt x="3827083" y="0"/>
                </a:lnTo>
                <a:lnTo>
                  <a:pt x="3827083" y="8678251"/>
                </a:lnTo>
                <a:lnTo>
                  <a:pt x="0" y="86782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413" t="-4323" r="-241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4673" y="1095375"/>
            <a:ext cx="8175748" cy="109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7645" i="true">
                <a:solidFill>
                  <a:srgbClr val="280F91"/>
                </a:solidFill>
                <a:latin typeface="Loubag Bold"/>
                <a:ea typeface="Loubag Bold"/>
                <a:cs typeface="Loubag Bold"/>
                <a:sym typeface="Loubag Bold"/>
              </a:rPr>
              <a:t>Kalkulator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504084"/>
            <a:ext cx="10800054" cy="485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Operasi Aritmatika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Mendukung perhitungan tambah, kurang, dan bilangan desimal.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Logika Parsing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Memproses input string menjadi angka menggunakan metode split ekspresi.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Kontrol Input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Fitur cegah double titik desimal, tombol DEL (hapus satu), dan C (reset).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Real-</a:t>
            </a: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time Update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Tampilan input dan hasil diperbarui secara instan menggunakan setState.</a:t>
            </a:r>
          </a:p>
          <a:p>
            <a:pPr algn="l" marL="0" indent="0" lvl="0">
              <a:lnSpc>
                <a:spcPts val="434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6735" y="549361"/>
            <a:ext cx="7749013" cy="2172347"/>
            <a:chOff x="0" y="0"/>
            <a:chExt cx="2040892" cy="572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0892" cy="572141"/>
            </a:xfrm>
            <a:custGeom>
              <a:avLst/>
              <a:gdLst/>
              <a:ahLst/>
              <a:cxnLst/>
              <a:rect r="r" b="b" t="t" l="l"/>
              <a:pathLst>
                <a:path h="572141" w="2040892">
                  <a:moveTo>
                    <a:pt x="50953" y="0"/>
                  </a:moveTo>
                  <a:lnTo>
                    <a:pt x="1989939" y="0"/>
                  </a:lnTo>
                  <a:cubicBezTo>
                    <a:pt x="2003453" y="0"/>
                    <a:pt x="2016413" y="5368"/>
                    <a:pt x="2025969" y="14924"/>
                  </a:cubicBezTo>
                  <a:cubicBezTo>
                    <a:pt x="2035524" y="24479"/>
                    <a:pt x="2040892" y="37440"/>
                    <a:pt x="2040892" y="50953"/>
                  </a:cubicBezTo>
                  <a:lnTo>
                    <a:pt x="2040892" y="521187"/>
                  </a:lnTo>
                  <a:cubicBezTo>
                    <a:pt x="2040892" y="534701"/>
                    <a:pt x="2035524" y="547661"/>
                    <a:pt x="2025969" y="557217"/>
                  </a:cubicBezTo>
                  <a:cubicBezTo>
                    <a:pt x="2016413" y="566773"/>
                    <a:pt x="2003453" y="572141"/>
                    <a:pt x="1989939" y="572141"/>
                  </a:cubicBezTo>
                  <a:lnTo>
                    <a:pt x="50953" y="572141"/>
                  </a:lnTo>
                  <a:cubicBezTo>
                    <a:pt x="37440" y="572141"/>
                    <a:pt x="24479" y="566773"/>
                    <a:pt x="14924" y="557217"/>
                  </a:cubicBezTo>
                  <a:cubicBezTo>
                    <a:pt x="5368" y="547661"/>
                    <a:pt x="0" y="534701"/>
                    <a:pt x="0" y="521187"/>
                  </a:cubicBezTo>
                  <a:lnTo>
                    <a:pt x="0" y="50953"/>
                  </a:lnTo>
                  <a:cubicBezTo>
                    <a:pt x="0" y="37440"/>
                    <a:pt x="5368" y="24479"/>
                    <a:pt x="14924" y="14924"/>
                  </a:cubicBezTo>
                  <a:cubicBezTo>
                    <a:pt x="24479" y="5368"/>
                    <a:pt x="37440" y="0"/>
                    <a:pt x="50953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2040892" cy="534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877881" y="549361"/>
            <a:ext cx="2034247" cy="1893699"/>
          </a:xfrm>
          <a:custGeom>
            <a:avLst/>
            <a:gdLst/>
            <a:ahLst/>
            <a:cxnLst/>
            <a:rect r="r" b="b" t="t" l="l"/>
            <a:pathLst>
              <a:path h="1893699" w="2034247">
                <a:moveTo>
                  <a:pt x="0" y="0"/>
                </a:moveTo>
                <a:lnTo>
                  <a:pt x="2034247" y="0"/>
                </a:lnTo>
                <a:lnTo>
                  <a:pt x="2034247" y="1893699"/>
                </a:lnTo>
                <a:lnTo>
                  <a:pt x="0" y="1893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26735" y="3154313"/>
            <a:ext cx="9967284" cy="5786974"/>
            <a:chOff x="0" y="0"/>
            <a:chExt cx="2625128" cy="15241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25128" cy="1524141"/>
            </a:xfrm>
            <a:custGeom>
              <a:avLst/>
              <a:gdLst/>
              <a:ahLst/>
              <a:cxnLst/>
              <a:rect r="r" b="b" t="t" l="l"/>
              <a:pathLst>
                <a:path h="1524141" w="2625128">
                  <a:moveTo>
                    <a:pt x="39613" y="0"/>
                  </a:moveTo>
                  <a:lnTo>
                    <a:pt x="2585515" y="0"/>
                  </a:lnTo>
                  <a:cubicBezTo>
                    <a:pt x="2596021" y="0"/>
                    <a:pt x="2606097" y="4174"/>
                    <a:pt x="2613526" y="11602"/>
                  </a:cubicBezTo>
                  <a:cubicBezTo>
                    <a:pt x="2620955" y="19031"/>
                    <a:pt x="2625128" y="29107"/>
                    <a:pt x="2625128" y="39613"/>
                  </a:cubicBezTo>
                  <a:lnTo>
                    <a:pt x="2625128" y="1484528"/>
                  </a:lnTo>
                  <a:cubicBezTo>
                    <a:pt x="2625128" y="1495034"/>
                    <a:pt x="2620955" y="1505110"/>
                    <a:pt x="2613526" y="1512539"/>
                  </a:cubicBezTo>
                  <a:cubicBezTo>
                    <a:pt x="2606097" y="1519968"/>
                    <a:pt x="2596021" y="1524141"/>
                    <a:pt x="2585515" y="1524141"/>
                  </a:cubicBezTo>
                  <a:lnTo>
                    <a:pt x="39613" y="1524141"/>
                  </a:lnTo>
                  <a:cubicBezTo>
                    <a:pt x="29107" y="1524141"/>
                    <a:pt x="19031" y="1519968"/>
                    <a:pt x="11602" y="1512539"/>
                  </a:cubicBezTo>
                  <a:cubicBezTo>
                    <a:pt x="4174" y="1505110"/>
                    <a:pt x="0" y="1495034"/>
                    <a:pt x="0" y="1484528"/>
                  </a:cubicBezTo>
                  <a:lnTo>
                    <a:pt x="0" y="39613"/>
                  </a:lnTo>
                  <a:cubicBezTo>
                    <a:pt x="0" y="29107"/>
                    <a:pt x="4174" y="19031"/>
                    <a:pt x="11602" y="11602"/>
                  </a:cubicBezTo>
                  <a:cubicBezTo>
                    <a:pt x="19031" y="4174"/>
                    <a:pt x="29107" y="0"/>
                    <a:pt x="39613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2625128" cy="1486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26735" y="8668540"/>
            <a:ext cx="1440059" cy="1358892"/>
          </a:xfrm>
          <a:custGeom>
            <a:avLst/>
            <a:gdLst/>
            <a:ahLst/>
            <a:cxnLst/>
            <a:rect r="r" b="b" t="t" l="l"/>
            <a:pathLst>
              <a:path h="1358892" w="1440059">
                <a:moveTo>
                  <a:pt x="0" y="0"/>
                </a:moveTo>
                <a:lnTo>
                  <a:pt x="1440059" y="0"/>
                </a:lnTo>
                <a:lnTo>
                  <a:pt x="1440059" y="1358892"/>
                </a:lnTo>
                <a:lnTo>
                  <a:pt x="0" y="1358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313896" y="1678055"/>
            <a:ext cx="3550725" cy="7580245"/>
          </a:xfrm>
          <a:custGeom>
            <a:avLst/>
            <a:gdLst/>
            <a:ahLst/>
            <a:cxnLst/>
            <a:rect r="r" b="b" t="t" l="l"/>
            <a:pathLst>
              <a:path h="7580245" w="3550725">
                <a:moveTo>
                  <a:pt x="0" y="0"/>
                </a:moveTo>
                <a:lnTo>
                  <a:pt x="3550725" y="0"/>
                </a:lnTo>
                <a:lnTo>
                  <a:pt x="3550725" y="7580245"/>
                </a:lnTo>
                <a:lnTo>
                  <a:pt x="0" y="75802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906" t="-4201" r="-2906" b="-765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1154749"/>
            <a:ext cx="8175748" cy="109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7645" i="true">
                <a:solidFill>
                  <a:srgbClr val="280F91"/>
                </a:solidFill>
                <a:latin typeface="Loubag Bold"/>
                <a:ea typeface="Loubag Bold"/>
                <a:cs typeface="Loubag Bold"/>
                <a:sym typeface="Loubag Bold"/>
              </a:rPr>
              <a:t>Cek Bilangan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5564" y="3568781"/>
            <a:ext cx="9509626" cy="485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Klasif</a:t>
            </a: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ikasi Ganda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Menentukan status Ganjil/Genap menggunakan logika mod 2.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Identifikasi Prima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Algoritma khusus untuk mendeteksi Bilangan Prima secara akurat.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Validasi Desimal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Kemampuan sistem mendeteksi dan memberi label pada input angka desimal.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Output Dinamis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Hasil analisis muncul secara otomatis dalam bentuk kartu informasi setelah tombol ditekan.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563909" y="1678055"/>
            <a:ext cx="3578537" cy="7580245"/>
          </a:xfrm>
          <a:custGeom>
            <a:avLst/>
            <a:gdLst/>
            <a:ahLst/>
            <a:cxnLst/>
            <a:rect r="r" b="b" t="t" l="l"/>
            <a:pathLst>
              <a:path h="7580245" w="3578537">
                <a:moveTo>
                  <a:pt x="0" y="0"/>
                </a:moveTo>
                <a:lnTo>
                  <a:pt x="3578537" y="0"/>
                </a:lnTo>
                <a:lnTo>
                  <a:pt x="3578537" y="7580245"/>
                </a:lnTo>
                <a:lnTo>
                  <a:pt x="0" y="75802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817" r="0" b="-3033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6735" y="549361"/>
            <a:ext cx="7747319" cy="2172347"/>
            <a:chOff x="0" y="0"/>
            <a:chExt cx="2040446" cy="572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0446" cy="572141"/>
            </a:xfrm>
            <a:custGeom>
              <a:avLst/>
              <a:gdLst/>
              <a:ahLst/>
              <a:cxnLst/>
              <a:rect r="r" b="b" t="t" l="l"/>
              <a:pathLst>
                <a:path h="572141" w="2040446">
                  <a:moveTo>
                    <a:pt x="50964" y="0"/>
                  </a:moveTo>
                  <a:lnTo>
                    <a:pt x="1989482" y="0"/>
                  </a:lnTo>
                  <a:cubicBezTo>
                    <a:pt x="2017629" y="0"/>
                    <a:pt x="2040446" y="22818"/>
                    <a:pt x="2040446" y="50964"/>
                  </a:cubicBezTo>
                  <a:lnTo>
                    <a:pt x="2040446" y="521176"/>
                  </a:lnTo>
                  <a:cubicBezTo>
                    <a:pt x="2040446" y="549323"/>
                    <a:pt x="2017629" y="572141"/>
                    <a:pt x="1989482" y="572141"/>
                  </a:cubicBezTo>
                  <a:lnTo>
                    <a:pt x="50964" y="572141"/>
                  </a:lnTo>
                  <a:cubicBezTo>
                    <a:pt x="22818" y="572141"/>
                    <a:pt x="0" y="549323"/>
                    <a:pt x="0" y="521176"/>
                  </a:cubicBezTo>
                  <a:lnTo>
                    <a:pt x="0" y="50964"/>
                  </a:lnTo>
                  <a:cubicBezTo>
                    <a:pt x="0" y="22818"/>
                    <a:pt x="22818" y="0"/>
                    <a:pt x="50964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2040446" cy="534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33674" y="661561"/>
            <a:ext cx="2034247" cy="1893699"/>
          </a:xfrm>
          <a:custGeom>
            <a:avLst/>
            <a:gdLst/>
            <a:ahLst/>
            <a:cxnLst/>
            <a:rect r="r" b="b" t="t" l="l"/>
            <a:pathLst>
              <a:path h="1893699" w="2034247">
                <a:moveTo>
                  <a:pt x="0" y="0"/>
                </a:moveTo>
                <a:lnTo>
                  <a:pt x="2034247" y="0"/>
                </a:lnTo>
                <a:lnTo>
                  <a:pt x="2034247" y="1893699"/>
                </a:lnTo>
                <a:lnTo>
                  <a:pt x="0" y="1893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21972" y="3022079"/>
            <a:ext cx="10006559" cy="5451483"/>
            <a:chOff x="0" y="0"/>
            <a:chExt cx="2635472" cy="14357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35472" cy="1435782"/>
            </a:xfrm>
            <a:custGeom>
              <a:avLst/>
              <a:gdLst/>
              <a:ahLst/>
              <a:cxnLst/>
              <a:rect r="r" b="b" t="t" l="l"/>
              <a:pathLst>
                <a:path h="1435782" w="2635472">
                  <a:moveTo>
                    <a:pt x="39458" y="0"/>
                  </a:moveTo>
                  <a:lnTo>
                    <a:pt x="2596014" y="0"/>
                  </a:lnTo>
                  <a:cubicBezTo>
                    <a:pt x="2617806" y="0"/>
                    <a:pt x="2635472" y="17666"/>
                    <a:pt x="2635472" y="39458"/>
                  </a:cubicBezTo>
                  <a:lnTo>
                    <a:pt x="2635472" y="1396324"/>
                  </a:lnTo>
                  <a:cubicBezTo>
                    <a:pt x="2635472" y="1418116"/>
                    <a:pt x="2617806" y="1435782"/>
                    <a:pt x="2596014" y="1435782"/>
                  </a:cubicBezTo>
                  <a:lnTo>
                    <a:pt x="39458" y="1435782"/>
                  </a:lnTo>
                  <a:cubicBezTo>
                    <a:pt x="17666" y="1435782"/>
                    <a:pt x="0" y="1418116"/>
                    <a:pt x="0" y="1396324"/>
                  </a:cubicBezTo>
                  <a:lnTo>
                    <a:pt x="0" y="39458"/>
                  </a:lnTo>
                  <a:cubicBezTo>
                    <a:pt x="0" y="17666"/>
                    <a:pt x="17666" y="0"/>
                    <a:pt x="39458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2635472" cy="1397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26735" y="8621590"/>
            <a:ext cx="1440059" cy="1358892"/>
          </a:xfrm>
          <a:custGeom>
            <a:avLst/>
            <a:gdLst/>
            <a:ahLst/>
            <a:cxnLst/>
            <a:rect r="r" b="b" t="t" l="l"/>
            <a:pathLst>
              <a:path h="1358892" w="1440059">
                <a:moveTo>
                  <a:pt x="0" y="0"/>
                </a:moveTo>
                <a:lnTo>
                  <a:pt x="1440059" y="0"/>
                </a:lnTo>
                <a:lnTo>
                  <a:pt x="1440059" y="1358892"/>
                </a:lnTo>
                <a:lnTo>
                  <a:pt x="0" y="1358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371457" y="1635535"/>
            <a:ext cx="3642889" cy="7665500"/>
          </a:xfrm>
          <a:custGeom>
            <a:avLst/>
            <a:gdLst/>
            <a:ahLst/>
            <a:cxnLst/>
            <a:rect r="r" b="b" t="t" l="l"/>
            <a:pathLst>
              <a:path h="7665500" w="3642889">
                <a:moveTo>
                  <a:pt x="0" y="0"/>
                </a:moveTo>
                <a:lnTo>
                  <a:pt x="3642889" y="0"/>
                </a:lnTo>
                <a:lnTo>
                  <a:pt x="3642889" y="7665501"/>
                </a:lnTo>
                <a:lnTo>
                  <a:pt x="0" y="76655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754" r="0" b="-249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2520" y="1095375"/>
            <a:ext cx="8175748" cy="109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7645" i="true">
                <a:solidFill>
                  <a:srgbClr val="280F91"/>
                </a:solidFill>
                <a:latin typeface="Loubag Bold"/>
                <a:ea typeface="Loubag Bold"/>
                <a:cs typeface="Loubag Bold"/>
                <a:sym typeface="Loubag Bold"/>
              </a:rPr>
              <a:t>Total Angka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5467" y="3224612"/>
            <a:ext cx="9422454" cy="539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Logika Iterasi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Menjumlahkan setiap digit dari deret angka yang dimasukkan secara individual.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Validasi RegExp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Memastikan input hanya berupa angka (0-9) tanpa karakter lain.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Sistem Proteksi: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Peringatan otomatis melalui SnackBar jika input mengandung huruf atau simbol.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Output Dinamis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Hasil perhitungan ditampilkan dalam kartu gradient yang muncul setelah proses hitung selesai.</a:t>
            </a:r>
          </a:p>
          <a:p>
            <a:pPr algn="l" marL="0" indent="0" lvl="0">
              <a:lnSpc>
                <a:spcPts val="4341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580931" y="1635535"/>
            <a:ext cx="3642889" cy="7665500"/>
          </a:xfrm>
          <a:custGeom>
            <a:avLst/>
            <a:gdLst/>
            <a:ahLst/>
            <a:cxnLst/>
            <a:rect r="r" b="b" t="t" l="l"/>
            <a:pathLst>
              <a:path h="7665500" w="3642889">
                <a:moveTo>
                  <a:pt x="0" y="0"/>
                </a:moveTo>
                <a:lnTo>
                  <a:pt x="3642889" y="0"/>
                </a:lnTo>
                <a:lnTo>
                  <a:pt x="3642889" y="7665501"/>
                </a:lnTo>
                <a:lnTo>
                  <a:pt x="0" y="76655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781" r="0" b="-3781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6735" y="549361"/>
            <a:ext cx="6957844" cy="2172347"/>
            <a:chOff x="0" y="0"/>
            <a:chExt cx="1832519" cy="572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2519" cy="572141"/>
            </a:xfrm>
            <a:custGeom>
              <a:avLst/>
              <a:gdLst/>
              <a:ahLst/>
              <a:cxnLst/>
              <a:rect r="r" b="b" t="t" l="l"/>
              <a:pathLst>
                <a:path h="572141" w="1832519">
                  <a:moveTo>
                    <a:pt x="56747" y="0"/>
                  </a:moveTo>
                  <a:lnTo>
                    <a:pt x="1775772" y="0"/>
                  </a:lnTo>
                  <a:cubicBezTo>
                    <a:pt x="1807112" y="0"/>
                    <a:pt x="1832519" y="25407"/>
                    <a:pt x="1832519" y="56747"/>
                  </a:cubicBezTo>
                  <a:lnTo>
                    <a:pt x="1832519" y="515394"/>
                  </a:lnTo>
                  <a:cubicBezTo>
                    <a:pt x="1832519" y="530444"/>
                    <a:pt x="1826540" y="544878"/>
                    <a:pt x="1815898" y="555520"/>
                  </a:cubicBezTo>
                  <a:cubicBezTo>
                    <a:pt x="1805256" y="566162"/>
                    <a:pt x="1790822" y="572141"/>
                    <a:pt x="1775772" y="572141"/>
                  </a:cubicBezTo>
                  <a:lnTo>
                    <a:pt x="56747" y="572141"/>
                  </a:lnTo>
                  <a:cubicBezTo>
                    <a:pt x="41697" y="572141"/>
                    <a:pt x="27263" y="566162"/>
                    <a:pt x="16621" y="555520"/>
                  </a:cubicBezTo>
                  <a:cubicBezTo>
                    <a:pt x="5979" y="544878"/>
                    <a:pt x="0" y="530444"/>
                    <a:pt x="0" y="515394"/>
                  </a:cubicBezTo>
                  <a:lnTo>
                    <a:pt x="0" y="56747"/>
                  </a:lnTo>
                  <a:cubicBezTo>
                    <a:pt x="0" y="41697"/>
                    <a:pt x="5979" y="27263"/>
                    <a:pt x="16621" y="16621"/>
                  </a:cubicBezTo>
                  <a:cubicBezTo>
                    <a:pt x="27263" y="5979"/>
                    <a:pt x="41697" y="0"/>
                    <a:pt x="56747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1832519" cy="534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546683" y="688686"/>
            <a:ext cx="2034247" cy="1893699"/>
          </a:xfrm>
          <a:custGeom>
            <a:avLst/>
            <a:gdLst/>
            <a:ahLst/>
            <a:cxnLst/>
            <a:rect r="r" b="b" t="t" l="l"/>
            <a:pathLst>
              <a:path h="1893699" w="2034247">
                <a:moveTo>
                  <a:pt x="0" y="0"/>
                </a:moveTo>
                <a:lnTo>
                  <a:pt x="2034247" y="0"/>
                </a:lnTo>
                <a:lnTo>
                  <a:pt x="2034247" y="1893698"/>
                </a:lnTo>
                <a:lnTo>
                  <a:pt x="0" y="1893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26735" y="3221197"/>
            <a:ext cx="10333533" cy="6037103"/>
            <a:chOff x="0" y="0"/>
            <a:chExt cx="2721589" cy="15900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21589" cy="1590019"/>
            </a:xfrm>
            <a:custGeom>
              <a:avLst/>
              <a:gdLst/>
              <a:ahLst/>
              <a:cxnLst/>
              <a:rect r="r" b="b" t="t" l="l"/>
              <a:pathLst>
                <a:path h="1590019" w="2721589">
                  <a:moveTo>
                    <a:pt x="38209" y="0"/>
                  </a:moveTo>
                  <a:lnTo>
                    <a:pt x="2683380" y="0"/>
                  </a:lnTo>
                  <a:cubicBezTo>
                    <a:pt x="2704482" y="0"/>
                    <a:pt x="2721589" y="17107"/>
                    <a:pt x="2721589" y="38209"/>
                  </a:cubicBezTo>
                  <a:lnTo>
                    <a:pt x="2721589" y="1551810"/>
                  </a:lnTo>
                  <a:cubicBezTo>
                    <a:pt x="2721589" y="1561943"/>
                    <a:pt x="2717564" y="1571662"/>
                    <a:pt x="2710398" y="1578828"/>
                  </a:cubicBezTo>
                  <a:cubicBezTo>
                    <a:pt x="2703232" y="1585993"/>
                    <a:pt x="2693513" y="1590019"/>
                    <a:pt x="2683380" y="1590019"/>
                  </a:cubicBezTo>
                  <a:lnTo>
                    <a:pt x="38209" y="1590019"/>
                  </a:lnTo>
                  <a:cubicBezTo>
                    <a:pt x="28076" y="1590019"/>
                    <a:pt x="18357" y="1585993"/>
                    <a:pt x="11191" y="1578828"/>
                  </a:cubicBezTo>
                  <a:cubicBezTo>
                    <a:pt x="4026" y="1571662"/>
                    <a:pt x="0" y="1561943"/>
                    <a:pt x="0" y="1551810"/>
                  </a:cubicBezTo>
                  <a:lnTo>
                    <a:pt x="0" y="38209"/>
                  </a:lnTo>
                  <a:cubicBezTo>
                    <a:pt x="0" y="28076"/>
                    <a:pt x="4026" y="18357"/>
                    <a:pt x="11191" y="11191"/>
                  </a:cubicBezTo>
                  <a:cubicBezTo>
                    <a:pt x="18357" y="4026"/>
                    <a:pt x="28076" y="0"/>
                    <a:pt x="38209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2721589" cy="1551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998393" y="8578854"/>
            <a:ext cx="1440059" cy="1358892"/>
          </a:xfrm>
          <a:custGeom>
            <a:avLst/>
            <a:gdLst/>
            <a:ahLst/>
            <a:cxnLst/>
            <a:rect r="r" b="b" t="t" l="l"/>
            <a:pathLst>
              <a:path h="1358892" w="1440059">
                <a:moveTo>
                  <a:pt x="0" y="0"/>
                </a:moveTo>
                <a:lnTo>
                  <a:pt x="1440059" y="0"/>
                </a:lnTo>
                <a:lnTo>
                  <a:pt x="1440059" y="1358892"/>
                </a:lnTo>
                <a:lnTo>
                  <a:pt x="0" y="1358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679189" y="1151928"/>
            <a:ext cx="3432836" cy="7373134"/>
          </a:xfrm>
          <a:custGeom>
            <a:avLst/>
            <a:gdLst/>
            <a:ahLst/>
            <a:cxnLst/>
            <a:rect r="r" b="b" t="t" l="l"/>
            <a:pathLst>
              <a:path h="7373134" w="3432836">
                <a:moveTo>
                  <a:pt x="0" y="0"/>
                </a:moveTo>
                <a:lnTo>
                  <a:pt x="3432837" y="0"/>
                </a:lnTo>
                <a:lnTo>
                  <a:pt x="3432837" y="7373135"/>
                </a:lnTo>
                <a:lnTo>
                  <a:pt x="0" y="73731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231" r="0" b="-114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344963" y="1122500"/>
            <a:ext cx="8175748" cy="109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7645" i="true">
                <a:solidFill>
                  <a:srgbClr val="280F91"/>
                </a:solidFill>
                <a:latin typeface="Loubag Bold"/>
                <a:ea typeface="Loubag Bold"/>
                <a:cs typeface="Loubag Bold"/>
                <a:sym typeface="Loubag Bold"/>
              </a:rPr>
              <a:t>Stopwatch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9454" y="3475274"/>
            <a:ext cx="9988095" cy="539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</a:t>
            </a: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resisi Tinggi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Menggunakan class Stopwatch Dart untuk melacak waktu hingga milidetik.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Update Real-time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Implementasi Timer.periodic untuk memperbarui tampilan durasi secara instan.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Sistem Lap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Fitur pencatatan waktu interval tanpa menghentikan penghitung utama.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Kontrol Penuh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Tombol Start, Stop, Reset, dan Lap untuk manajemen sesi pengguna.</a:t>
            </a:r>
          </a:p>
          <a:p>
            <a:pPr algn="l" marL="585806" indent="-292903" lvl="1">
              <a:lnSpc>
                <a:spcPts val="4341"/>
              </a:lnSpc>
              <a:buFont typeface="Arial"/>
              <a:buChar char="•"/>
            </a:pPr>
            <a:r>
              <a:rPr lang="en-US" b="true" sz="27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Manajemen Memori</a:t>
            </a:r>
            <a:r>
              <a:rPr lang="en-US" sz="27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Fungsi dispose otomatis untuk mencegah kebocoran data saat halaman ditutup.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998393" y="1196240"/>
            <a:ext cx="3447100" cy="7328823"/>
          </a:xfrm>
          <a:custGeom>
            <a:avLst/>
            <a:gdLst/>
            <a:ahLst/>
            <a:cxnLst/>
            <a:rect r="r" b="b" t="t" l="l"/>
            <a:pathLst>
              <a:path h="7328823" w="3447100">
                <a:moveTo>
                  <a:pt x="0" y="0"/>
                </a:moveTo>
                <a:lnTo>
                  <a:pt x="3447101" y="0"/>
                </a:lnTo>
                <a:lnTo>
                  <a:pt x="3447101" y="7328823"/>
                </a:lnTo>
                <a:lnTo>
                  <a:pt x="0" y="73288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972" r="0" b="-2485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6735" y="549361"/>
            <a:ext cx="5067890" cy="2172347"/>
            <a:chOff x="0" y="0"/>
            <a:chExt cx="1334753" cy="572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4753" cy="572141"/>
            </a:xfrm>
            <a:custGeom>
              <a:avLst/>
              <a:gdLst/>
              <a:ahLst/>
              <a:cxnLst/>
              <a:rect r="r" b="b" t="t" l="l"/>
              <a:pathLst>
                <a:path h="572141" w="1334753">
                  <a:moveTo>
                    <a:pt x="77910" y="0"/>
                  </a:moveTo>
                  <a:lnTo>
                    <a:pt x="1256843" y="0"/>
                  </a:lnTo>
                  <a:cubicBezTo>
                    <a:pt x="1299872" y="0"/>
                    <a:pt x="1334753" y="34881"/>
                    <a:pt x="1334753" y="77910"/>
                  </a:cubicBezTo>
                  <a:lnTo>
                    <a:pt x="1334753" y="494231"/>
                  </a:lnTo>
                  <a:cubicBezTo>
                    <a:pt x="1334753" y="537259"/>
                    <a:pt x="1299872" y="572141"/>
                    <a:pt x="1256843" y="572141"/>
                  </a:cubicBezTo>
                  <a:lnTo>
                    <a:pt x="77910" y="572141"/>
                  </a:lnTo>
                  <a:cubicBezTo>
                    <a:pt x="57247" y="572141"/>
                    <a:pt x="37430" y="563932"/>
                    <a:pt x="22819" y="549322"/>
                  </a:cubicBezTo>
                  <a:cubicBezTo>
                    <a:pt x="8208" y="534711"/>
                    <a:pt x="0" y="514894"/>
                    <a:pt x="0" y="494231"/>
                  </a:cubicBezTo>
                  <a:lnTo>
                    <a:pt x="0" y="77910"/>
                  </a:lnTo>
                  <a:cubicBezTo>
                    <a:pt x="0" y="34881"/>
                    <a:pt x="34881" y="0"/>
                    <a:pt x="77910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1334753" cy="534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048111" y="828010"/>
            <a:ext cx="2034247" cy="1893699"/>
          </a:xfrm>
          <a:custGeom>
            <a:avLst/>
            <a:gdLst/>
            <a:ahLst/>
            <a:cxnLst/>
            <a:rect r="r" b="b" t="t" l="l"/>
            <a:pathLst>
              <a:path h="1893699" w="2034247">
                <a:moveTo>
                  <a:pt x="0" y="0"/>
                </a:moveTo>
                <a:lnTo>
                  <a:pt x="2034247" y="0"/>
                </a:lnTo>
                <a:lnTo>
                  <a:pt x="2034247" y="1893699"/>
                </a:lnTo>
                <a:lnTo>
                  <a:pt x="0" y="1893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26735" y="3233690"/>
            <a:ext cx="9800129" cy="6778731"/>
            <a:chOff x="0" y="0"/>
            <a:chExt cx="2581104" cy="17853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1104" cy="1785345"/>
            </a:xfrm>
            <a:custGeom>
              <a:avLst/>
              <a:gdLst/>
              <a:ahLst/>
              <a:cxnLst/>
              <a:rect r="r" b="b" t="t" l="l"/>
              <a:pathLst>
                <a:path h="1785345" w="2581104">
                  <a:moveTo>
                    <a:pt x="40289" y="0"/>
                  </a:moveTo>
                  <a:lnTo>
                    <a:pt x="2540815" y="0"/>
                  </a:lnTo>
                  <a:cubicBezTo>
                    <a:pt x="2551500" y="0"/>
                    <a:pt x="2561748" y="4245"/>
                    <a:pt x="2569303" y="11800"/>
                  </a:cubicBezTo>
                  <a:cubicBezTo>
                    <a:pt x="2576859" y="19356"/>
                    <a:pt x="2581104" y="29604"/>
                    <a:pt x="2581104" y="40289"/>
                  </a:cubicBezTo>
                  <a:lnTo>
                    <a:pt x="2581104" y="1745056"/>
                  </a:lnTo>
                  <a:cubicBezTo>
                    <a:pt x="2581104" y="1767307"/>
                    <a:pt x="2563066" y="1785345"/>
                    <a:pt x="2540815" y="1785345"/>
                  </a:cubicBezTo>
                  <a:lnTo>
                    <a:pt x="40289" y="1785345"/>
                  </a:lnTo>
                  <a:cubicBezTo>
                    <a:pt x="29604" y="1785345"/>
                    <a:pt x="19356" y="1781100"/>
                    <a:pt x="11800" y="1773544"/>
                  </a:cubicBezTo>
                  <a:cubicBezTo>
                    <a:pt x="4245" y="1765989"/>
                    <a:pt x="0" y="1755741"/>
                    <a:pt x="0" y="1745056"/>
                  </a:cubicBezTo>
                  <a:lnTo>
                    <a:pt x="0" y="40289"/>
                  </a:lnTo>
                  <a:cubicBezTo>
                    <a:pt x="0" y="29604"/>
                    <a:pt x="4245" y="19356"/>
                    <a:pt x="11800" y="11800"/>
                  </a:cubicBezTo>
                  <a:cubicBezTo>
                    <a:pt x="19356" y="4245"/>
                    <a:pt x="29604" y="0"/>
                    <a:pt x="40289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2581104" cy="1747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2721709"/>
            <a:ext cx="1440059" cy="1358892"/>
          </a:xfrm>
          <a:custGeom>
            <a:avLst/>
            <a:gdLst/>
            <a:ahLst/>
            <a:cxnLst/>
            <a:rect r="r" b="b" t="t" l="l"/>
            <a:pathLst>
              <a:path h="1358892" w="1440059">
                <a:moveTo>
                  <a:pt x="0" y="0"/>
                </a:moveTo>
                <a:lnTo>
                  <a:pt x="1440059" y="0"/>
                </a:lnTo>
                <a:lnTo>
                  <a:pt x="1440059" y="1358892"/>
                </a:lnTo>
                <a:lnTo>
                  <a:pt x="0" y="1358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88693" y="1274442"/>
            <a:ext cx="3598016" cy="7738116"/>
          </a:xfrm>
          <a:custGeom>
            <a:avLst/>
            <a:gdLst/>
            <a:ahLst/>
            <a:cxnLst/>
            <a:rect r="r" b="b" t="t" l="l"/>
            <a:pathLst>
              <a:path h="7738116" w="3598016">
                <a:moveTo>
                  <a:pt x="0" y="0"/>
                </a:moveTo>
                <a:lnTo>
                  <a:pt x="3598016" y="0"/>
                </a:lnTo>
                <a:lnTo>
                  <a:pt x="3598016" y="7738116"/>
                </a:lnTo>
                <a:lnTo>
                  <a:pt x="0" y="77381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436" r="0" b="-180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1110514" y="1187638"/>
            <a:ext cx="8175748" cy="109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b="true" sz="7645" i="true">
                <a:solidFill>
                  <a:srgbClr val="280F91"/>
                </a:solidFill>
                <a:latin typeface="Loubag Bold"/>
                <a:ea typeface="Loubag Bold"/>
                <a:cs typeface="Loubag Bold"/>
                <a:sym typeface="Loubag Bold"/>
              </a:rPr>
              <a:t>Piramid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0029" y="3305905"/>
            <a:ext cx="9342162" cy="6248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216" indent="-282108" lvl="1">
              <a:lnSpc>
                <a:spcPts val="4181"/>
              </a:lnSpc>
              <a:buFont typeface="Arial"/>
              <a:buChar char="•"/>
            </a:pPr>
            <a:r>
              <a:rPr lang="en-US" b="true" sz="26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Kalkulasi Ge</a:t>
            </a:r>
            <a:r>
              <a:rPr lang="en-US" b="true" sz="26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ometri</a:t>
            </a:r>
            <a:r>
              <a:rPr lang="en-US" sz="26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Menghitung Luas Alas dan Volume piramida berdasarkan input panjang sisi dan tinggi.</a:t>
            </a:r>
          </a:p>
          <a:p>
            <a:pPr algn="l" marL="564216" indent="-282108" lvl="1">
              <a:lnSpc>
                <a:spcPts val="4181"/>
              </a:lnSpc>
              <a:buFont typeface="Arial"/>
              <a:buChar char="•"/>
            </a:pPr>
            <a:r>
              <a:rPr lang="en-US" b="true" sz="26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Logika Presisi</a:t>
            </a:r>
            <a:r>
              <a:rPr lang="en-US" sz="26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Menggunakan double.tryParse dan toStringAsFixed(2) untuk mendukung serta menampilkan hasil angka desimal secara akurat.</a:t>
            </a:r>
          </a:p>
          <a:p>
            <a:pPr algn="l" marL="564216" indent="-282108" lvl="1">
              <a:lnSpc>
                <a:spcPts val="4181"/>
              </a:lnSpc>
              <a:buFont typeface="Arial"/>
              <a:buChar char="•"/>
            </a:pPr>
            <a:r>
              <a:rPr lang="en-US" b="true" sz="26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Validasi Input</a:t>
            </a:r>
            <a:r>
              <a:rPr lang="en-US" sz="26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: Implementasi FilteringTextInputFormatter untuk memastikan hanya karakter angka dan titik desimal yang dapat dimasukkan.</a:t>
            </a:r>
          </a:p>
          <a:p>
            <a:pPr algn="l" marL="564216" indent="-282108" lvl="1">
              <a:lnSpc>
                <a:spcPts val="4181"/>
              </a:lnSpc>
              <a:buFont typeface="Arial"/>
              <a:buChar char="•"/>
            </a:pPr>
            <a:r>
              <a:rPr lang="en-US" b="true" sz="2613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User Feedback:</a:t>
            </a:r>
            <a:r>
              <a:rPr lang="en-US" sz="2613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Dilengkapi sistem peringatan via SnackBar jika pengguna mengosongkan input atau memasukkan data yang tidak valid.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395172" y="1274442"/>
            <a:ext cx="3598016" cy="7738116"/>
          </a:xfrm>
          <a:custGeom>
            <a:avLst/>
            <a:gdLst/>
            <a:ahLst/>
            <a:cxnLst/>
            <a:rect r="r" b="b" t="t" l="l"/>
            <a:pathLst>
              <a:path h="7738116" w="3598016">
                <a:moveTo>
                  <a:pt x="0" y="0"/>
                </a:moveTo>
                <a:lnTo>
                  <a:pt x="3598016" y="0"/>
                </a:lnTo>
                <a:lnTo>
                  <a:pt x="3598016" y="7738116"/>
                </a:lnTo>
                <a:lnTo>
                  <a:pt x="0" y="77381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439" r="0" b="-1801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00864" y="2948322"/>
            <a:ext cx="11086273" cy="1587165"/>
            <a:chOff x="0" y="0"/>
            <a:chExt cx="2919841" cy="4180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9841" cy="418019"/>
            </a:xfrm>
            <a:custGeom>
              <a:avLst/>
              <a:gdLst/>
              <a:ahLst/>
              <a:cxnLst/>
              <a:rect r="r" b="b" t="t" l="l"/>
              <a:pathLst>
                <a:path h="418019" w="2919841">
                  <a:moveTo>
                    <a:pt x="35615" y="0"/>
                  </a:moveTo>
                  <a:lnTo>
                    <a:pt x="2884226" y="0"/>
                  </a:lnTo>
                  <a:cubicBezTo>
                    <a:pt x="2903896" y="0"/>
                    <a:pt x="2919841" y="15945"/>
                    <a:pt x="2919841" y="35615"/>
                  </a:cubicBezTo>
                  <a:lnTo>
                    <a:pt x="2919841" y="382404"/>
                  </a:lnTo>
                  <a:cubicBezTo>
                    <a:pt x="2919841" y="402074"/>
                    <a:pt x="2903896" y="418019"/>
                    <a:pt x="2884226" y="418019"/>
                  </a:cubicBezTo>
                  <a:lnTo>
                    <a:pt x="35615" y="418019"/>
                  </a:lnTo>
                  <a:cubicBezTo>
                    <a:pt x="15945" y="418019"/>
                    <a:pt x="0" y="402074"/>
                    <a:pt x="0" y="382404"/>
                  </a:cubicBezTo>
                  <a:lnTo>
                    <a:pt x="0" y="35615"/>
                  </a:lnTo>
                  <a:cubicBezTo>
                    <a:pt x="0" y="15945"/>
                    <a:pt x="15945" y="0"/>
                    <a:pt x="35615" y="0"/>
                  </a:cubicBezTo>
                  <a:close/>
                </a:path>
              </a:pathLst>
            </a:custGeom>
            <a:solidFill>
              <a:srgbClr val="F5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2919841" cy="379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12612" y="-1004557"/>
            <a:ext cx="4322534" cy="5306682"/>
          </a:xfrm>
          <a:custGeom>
            <a:avLst/>
            <a:gdLst/>
            <a:ahLst/>
            <a:cxnLst/>
            <a:rect r="r" b="b" t="t" l="l"/>
            <a:pathLst>
              <a:path h="5306682" w="4322534">
                <a:moveTo>
                  <a:pt x="0" y="0"/>
                </a:moveTo>
                <a:lnTo>
                  <a:pt x="4322534" y="0"/>
                </a:lnTo>
                <a:lnTo>
                  <a:pt x="4322534" y="5306682"/>
                </a:lnTo>
                <a:lnTo>
                  <a:pt x="0" y="5306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5837" y="293521"/>
            <a:ext cx="3235917" cy="3253664"/>
          </a:xfrm>
          <a:custGeom>
            <a:avLst/>
            <a:gdLst/>
            <a:ahLst/>
            <a:cxnLst/>
            <a:rect r="r" b="b" t="t" l="l"/>
            <a:pathLst>
              <a:path h="3253664" w="3235917">
                <a:moveTo>
                  <a:pt x="0" y="0"/>
                </a:moveTo>
                <a:lnTo>
                  <a:pt x="3235917" y="0"/>
                </a:lnTo>
                <a:lnTo>
                  <a:pt x="3235917" y="3253665"/>
                </a:lnTo>
                <a:lnTo>
                  <a:pt x="0" y="32536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78699" y="5143500"/>
            <a:ext cx="3107165" cy="3050672"/>
          </a:xfrm>
          <a:custGeom>
            <a:avLst/>
            <a:gdLst/>
            <a:ahLst/>
            <a:cxnLst/>
            <a:rect r="r" b="b" t="t" l="l"/>
            <a:pathLst>
              <a:path h="3050672" w="3107165">
                <a:moveTo>
                  <a:pt x="0" y="0"/>
                </a:moveTo>
                <a:lnTo>
                  <a:pt x="3107166" y="0"/>
                </a:lnTo>
                <a:lnTo>
                  <a:pt x="3107166" y="3050672"/>
                </a:lnTo>
                <a:lnTo>
                  <a:pt x="0" y="30506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2240" y="3200567"/>
            <a:ext cx="12266810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b="true" sz="8000" i="true">
                <a:solidFill>
                  <a:srgbClr val="9B2529"/>
                </a:solidFill>
                <a:latin typeface="Loubag Bold"/>
                <a:ea typeface="Loubag Bold"/>
                <a:cs typeface="Loubag Bold"/>
                <a:sym typeface="Loubag Bold"/>
              </a:rPr>
              <a:t>Demo Aplikasi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9053" y="1582717"/>
            <a:ext cx="14669894" cy="7121567"/>
          </a:xfrm>
          <a:custGeom>
            <a:avLst/>
            <a:gdLst/>
            <a:ahLst/>
            <a:cxnLst/>
            <a:rect r="r" b="b" t="t" l="l"/>
            <a:pathLst>
              <a:path h="7121567" w="14669894">
                <a:moveTo>
                  <a:pt x="0" y="0"/>
                </a:moveTo>
                <a:lnTo>
                  <a:pt x="14669894" y="0"/>
                </a:lnTo>
                <a:lnTo>
                  <a:pt x="14669894" y="7121566"/>
                </a:lnTo>
                <a:lnTo>
                  <a:pt x="0" y="7121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56158" y="2371939"/>
            <a:ext cx="2803142" cy="2645147"/>
          </a:xfrm>
          <a:custGeom>
            <a:avLst/>
            <a:gdLst/>
            <a:ahLst/>
            <a:cxnLst/>
            <a:rect r="r" b="b" t="t" l="l"/>
            <a:pathLst>
              <a:path h="2645147" w="2803142">
                <a:moveTo>
                  <a:pt x="0" y="0"/>
                </a:moveTo>
                <a:lnTo>
                  <a:pt x="2803142" y="0"/>
                </a:lnTo>
                <a:lnTo>
                  <a:pt x="2803142" y="2645147"/>
                </a:lnTo>
                <a:lnTo>
                  <a:pt x="0" y="2645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35084">
            <a:off x="1028700" y="6303983"/>
            <a:ext cx="2169271" cy="2400300"/>
          </a:xfrm>
          <a:custGeom>
            <a:avLst/>
            <a:gdLst/>
            <a:ahLst/>
            <a:cxnLst/>
            <a:rect r="r" b="b" t="t" l="l"/>
            <a:pathLst>
              <a:path h="2400300" w="2169271">
                <a:moveTo>
                  <a:pt x="0" y="0"/>
                </a:moveTo>
                <a:lnTo>
                  <a:pt x="2169271" y="0"/>
                </a:lnTo>
                <a:lnTo>
                  <a:pt x="2169271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74289" y="3622955"/>
            <a:ext cx="6827590" cy="273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72"/>
              </a:lnSpc>
            </a:pPr>
            <a:r>
              <a:rPr lang="en-US" sz="15980">
                <a:solidFill>
                  <a:srgbClr val="C13438"/>
                </a:solidFill>
                <a:latin typeface="Loubag"/>
                <a:ea typeface="Loubag"/>
                <a:cs typeface="Loubag"/>
                <a:sym typeface="Loubag"/>
              </a:rPr>
              <a:t>Thank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62461" y="3603905"/>
            <a:ext cx="4493697" cy="283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3"/>
              </a:lnSpc>
            </a:pPr>
            <a:r>
              <a:rPr lang="en-US" sz="16445" spc="-1019">
                <a:solidFill>
                  <a:srgbClr val="6B6899"/>
                </a:solidFill>
                <a:latin typeface="Playwrite US Trad"/>
                <a:ea typeface="Playwrite US Trad"/>
                <a:cs typeface="Playwrite US Trad"/>
                <a:sym typeface="Playwrite US Tra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DAHDKMMtdvk</dc:identifier>
  <dcterms:modified xsi:type="dcterms:W3CDTF">2011-08-01T06:04:30Z</dcterms:modified>
  <cp:revision>1</cp:revision>
  <dc:title>Pastel Pink Blue Creative Portfolio Presentation</dc:title>
</cp:coreProperties>
</file>